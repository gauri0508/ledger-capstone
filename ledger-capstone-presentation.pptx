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Gauri. My capstone is Ledger, a small expense tracker. The app is deliberately small so that the focus is on how it travels from my laptop to a monitored Kubernetes cluster: tests, Docker, the pipeline, security scanning, the registry, Terraform, Helm, Ingress, autoscaling, monitoring and troubleshooting. Everything shown is real output from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Ledger is a personal expense tracker. The domain is my own, as the brief requires; the DevOps layer follows the same architecture as the course’s TaskBoard reference. Four parts: a React frontend, a FastAPI backend, PostgreSQL, and the platform around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story in one line. Every push to main runs tests first, builds two images tagged with the commit SHA, scans them with Trivy, pushes them to GHCR and deploys with Helm. Underneath, Terraform describes the AWS infrastructure. Inside the cluster, Ingress, the HPA and the Postgres volume. On top, Prometheus and Grafana.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REST endpoints cover create, read, update, delete, list with a category filter, and a summary. On the right is the running UI from docker compose. The schema is created by an Alembic migration. Kubernetes uses /health to restart a pod and /ready to decide whether it gets traffic.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Thirteen tests across seven endpoints. They never touch the real database. This is the first quality gate of the pipeline; a failing test means no image is built.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is public. I committed in small steps, one concern each, so the history reads like the build order of the project. Nothing sensitive is in the history.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images. The backend image creates a system user and switches to it; the frontend uses a two-stage build so the final image is just nginx and the static bundle. The screenshot shows the build, the sizes and the id command inside each container proving neither runs as root.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jobs: test, then build-scan-push, then deploy. The image tag is the commit SHA, so any running pod can be traced to the exact commit. On GitHub the first two jobs ran green and pushed to GHCR; the deploy job is gated because a GitHub runner cannot reach a Minikube on my laptop, and I ran the identical workflow locally with act to prove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the OS packages and the Python packages of each image. The first scan of the frontend found a fixable HIGH in libtiff from the nginx base image, hidden by a cached Docker layer. The fix is in the pipeline: build with pull and no-cache. The unfixed findings in the Debian base are deliberately not blocking.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images live in GitHub Container Registry. The tag is the full commit SHA. The screenshot queries the registry API for the tag list and pulls the backend image back by that tag.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describes the VPC across two availability zones and an EKS cluster with a managed node group. I want to be upfront: no AWS account on this machine, so the VPC and IAM layer ran against LocalStack and the EKS layer is plan-only. The HCL is unchanged for real AWS.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cluster comes from one Helm chart. The screenshot is the release as the pipeline left it: five pods Running, three services with endpoints, a bound volume claim, the Ingress and the HPA. Every container runs non-root with capabilities dropped.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host, ledger.local. The API prefix and the probe paths go to the backend, everything else to the frontend. The screenshot is the application loaded through the Ingress address.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busybox pods in a tight loop against the summary endpoint. CPU went from three percent of the request to 278 percent, the HPA scaled to five replicas within a minute, and after the load was removed it scaled back to two. The events show both decisions with their reasons.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exposes Prometheus metrics; the chart’s ServiceMonitor connects it to Prometheus. The Grafana dashboard is from the same load test: the request rate jumps to about eleven hundred per second, the replica panel goes from two to five and 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deliberately broken manifests. An image tag that does not exist: ImagePullBackOff, describe and events say why, fix by pointing at a pushed tag. A Service whose selector matches nothing: no endpoints, connection refused; compare the selector with the pod labels and patch it. A merge patch keeps keys you do not mention, so the wrong label has to be set to null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live part I make a small visible change, commit and push it, and we watch the run on GitHub: tests, then build, scan and push to GHCR with the new SHA. Then the Helm release goes to the next revision and the pods carry the new tag. The screenshot shows this done once already.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things I take away from this project. The repository README has every command, its output and the screenshots.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1097280"/>
            <a:ext cx="9144000" cy="457200"/>
          </a:xfrm>
          <a:prstGeom prst="rect">
            <a:avLst/>
          </a:prstGeom>
          <a:noFill/>
        </p:spPr>
        <p:txBody>
          <a:bodyPr wrap="square" lIns="137160" rIns="137160" tIns="91440" bIns="91440">
            <a:spAutoFit/>
          </a:bodyPr>
          <a:lstStyle/>
          <a:p>
            <a:pPr>
              <a:spcAft>
                <a:spcPts val="400"/>
              </a:spcAft>
            </a:pPr>
            <a:r>
              <a:rPr sz="1400" b="1">
                <a:solidFill>
                  <a:srgbClr val="4FD1A5"/>
                </a:solidFill>
                <a:latin typeface="Calibri"/>
              </a:rPr>
              <a:t>DEVOPS FINAL CAPSTONE · SESSION 21</a:t>
            </a:r>
          </a:p>
        </p:txBody>
      </p:sp>
      <p:sp>
        <p:nvSpPr>
          <p:cNvPr id="3" name="TextBox 2"/>
          <p:cNvSpPr txBox="1"/>
          <p:nvPr/>
        </p:nvSpPr>
        <p:spPr>
          <a:xfrm>
            <a:off x="640080" y="1645920"/>
            <a:ext cx="9144000" cy="1463040"/>
          </a:xfrm>
          <a:prstGeom prst="rect">
            <a:avLst/>
          </a:prstGeom>
          <a:noFill/>
        </p:spPr>
        <p:txBody>
          <a:bodyPr wrap="square" lIns="137160" rIns="137160" tIns="91440" bIns="91440">
            <a:spAutoFit/>
          </a:bodyPr>
          <a:lstStyle/>
          <a:p>
            <a:pPr>
              <a:spcAft>
                <a:spcPts val="400"/>
              </a:spcAft>
            </a:pPr>
            <a:r>
              <a:rPr sz="7200" b="1">
                <a:solidFill>
                  <a:srgbClr val="E6EDF3"/>
                </a:solidFill>
                <a:latin typeface="Calibri"/>
              </a:rPr>
              <a:t>Ledger</a:t>
            </a:r>
          </a:p>
        </p:txBody>
      </p:sp>
      <p:sp>
        <p:nvSpPr>
          <p:cNvPr id="4" name="TextBox 3"/>
          <p:cNvSpPr txBox="1"/>
          <p:nvPr/>
        </p:nvSpPr>
        <p:spPr>
          <a:xfrm>
            <a:off x="640080" y="3200400"/>
            <a:ext cx="10058400" cy="1097280"/>
          </a:xfrm>
          <a:prstGeom prst="rect">
            <a:avLst/>
          </a:prstGeom>
          <a:noFill/>
        </p:spPr>
        <p:txBody>
          <a:bodyPr wrap="square" lIns="137160" rIns="137160" tIns="91440" bIns="91440">
            <a:spAutoFit/>
          </a:bodyPr>
          <a:lstStyle/>
          <a:p>
            <a:pPr>
              <a:spcAft>
                <a:spcPts val="400"/>
              </a:spcAft>
            </a:pPr>
            <a:r>
              <a:rPr sz="2600" b="0">
                <a:solidFill>
                  <a:srgbClr val="BFD8D5"/>
                </a:solidFill>
                <a:latin typeface="Calibri"/>
              </a:rPr>
              <a:t>An expense tracker, taken from a laptop to a monitored Kubernetes cluster</a:t>
            </a:r>
          </a:p>
        </p:txBody>
      </p:sp>
      <p:sp>
        <p:nvSpPr>
          <p:cNvPr id="5" name="TextBox 4"/>
          <p:cNvSpPr txBox="1"/>
          <p:nvPr/>
        </p:nvSpPr>
        <p:spPr>
          <a:xfrm>
            <a:off x="640080" y="5120640"/>
            <a:ext cx="4572000" cy="457200"/>
          </a:xfrm>
          <a:prstGeom prst="rect">
            <a:avLst/>
          </a:prstGeom>
          <a:noFill/>
        </p:spPr>
        <p:txBody>
          <a:bodyPr wrap="square" lIns="137160" rIns="137160" tIns="91440" bIns="91440">
            <a:spAutoFit/>
          </a:bodyPr>
          <a:lstStyle/>
          <a:p>
            <a:pPr>
              <a:spcAft>
                <a:spcPts val="400"/>
              </a:spcAft>
            </a:pPr>
            <a:r>
              <a:rPr sz="2000" b="1">
                <a:solidFill>
                  <a:srgbClr val="E6EDF3"/>
                </a:solidFill>
                <a:latin typeface="Calibri"/>
              </a:rPr>
              <a:t>Gauri Shukla</a:t>
            </a:r>
          </a:p>
        </p:txBody>
      </p:sp>
      <p:sp>
        <p:nvSpPr>
          <p:cNvPr id="6" name="TextBox 5"/>
          <p:cNvSpPr txBox="1"/>
          <p:nvPr/>
        </p:nvSpPr>
        <p:spPr>
          <a:xfrm>
            <a:off x="640080" y="5577840"/>
            <a:ext cx="4572000" cy="457200"/>
          </a:xfrm>
          <a:prstGeom prst="rect">
            <a:avLst/>
          </a:prstGeom>
          <a:noFill/>
        </p:spPr>
        <p:txBody>
          <a:bodyPr wrap="square" lIns="137160" rIns="137160" tIns="91440" bIns="91440">
            <a:spAutoFit/>
          </a:bodyPr>
          <a:lstStyle/>
          <a:p>
            <a:pPr>
              <a:spcAft>
                <a:spcPts val="400"/>
              </a:spcAft>
            </a:pPr>
            <a:r>
              <a:rPr sz="1600" b="0">
                <a:solidFill>
                  <a:srgbClr val="8B98A8"/>
                </a:solidFill>
                <a:latin typeface="Calibri"/>
              </a:rPr>
              <a:t>Enrollment 24BCS10115</a:t>
            </a:r>
          </a:p>
        </p:txBody>
      </p:sp>
      <p:sp>
        <p:nvSpPr>
          <p:cNvPr id="7" name="TextBox 6"/>
          <p:cNvSpPr txBox="1"/>
          <p:nvPr/>
        </p:nvSpPr>
        <p:spPr>
          <a:xfrm>
            <a:off x="6065215" y="5577840"/>
            <a:ext cx="5486400" cy="457200"/>
          </a:xfrm>
          <a:prstGeom prst="rect">
            <a:avLst/>
          </a:prstGeom>
          <a:noFill/>
        </p:spPr>
        <p:txBody>
          <a:bodyPr wrap="square" lIns="137160" rIns="137160" tIns="91440" bIns="91440">
            <a:spAutoFit/>
          </a:bodyPr>
          <a:lstStyle/>
          <a:p>
            <a:pPr algn="r">
              <a:spcAft>
                <a:spcPts val="400"/>
              </a:spcAft>
            </a:pPr>
            <a:r>
              <a:rPr sz="1600" b="0">
                <a:solidFill>
                  <a:srgbClr val="7CC4FF"/>
                </a:solidFill>
                <a:latin typeface="Courier New"/>
              </a:rPr>
              <a:t>github.com/gauri0508/ledger-capstone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What Ledger does</a:t>
            </a:r>
          </a:p>
        </p:txBody>
      </p:sp>
      <p:sp>
        <p:nvSpPr>
          <p:cNvPr id="3" name="TextBox 2"/>
          <p:cNvSpPr txBox="1"/>
          <p:nvPr/>
        </p:nvSpPr>
        <p:spPr>
          <a:xfrm>
            <a:off x="640080" y="1371600"/>
            <a:ext cx="10911535" cy="1097280"/>
          </a:xfrm>
          <a:prstGeom prst="rect">
            <a:avLst/>
          </a:prstGeom>
          <a:noFill/>
        </p:spPr>
        <p:txBody>
          <a:bodyPr wrap="square" lIns="137160" rIns="137160" tIns="91440" bIns="91440">
            <a:spAutoFit/>
          </a:bodyPr>
          <a:lstStyle/>
          <a:p>
            <a:pPr>
              <a:spcAft>
                <a:spcPts val="400"/>
              </a:spcAft>
            </a:pPr>
            <a:r>
              <a:rPr sz="1800" b="0">
                <a:solidFill>
                  <a:srgbClr val="BFD8D5"/>
                </a:solidFill>
                <a:latin typeface="Calibri"/>
              </a:rPr>
              <a:t>You record what you spent (amount, category, date, note). The dashboard shows this month’s total, the all-time total, the number of expenses and the top category, with a filterable table underneath.</a:t>
            </a:r>
          </a:p>
        </p:txBody>
      </p:sp>
      <p:sp>
        <p:nvSpPr>
          <p:cNvPr id="4" name="Rectangle 3"/>
          <p:cNvSpPr/>
          <p:nvPr/>
        </p:nvSpPr>
        <p:spPr>
          <a:xfrm>
            <a:off x="640080" y="2743200"/>
            <a:ext cx="2590723" cy="173736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FRONTEND</a:t>
            </a:r>
          </a:p>
          <a:p>
            <a:pPr>
              <a:spcAft>
                <a:spcPts val="400"/>
              </a:spcAft>
            </a:pPr>
            <a:r>
              <a:rPr sz="1500" b="0">
                <a:solidFill>
                  <a:srgbClr val="E6EDF3"/>
                </a:solidFill>
                <a:latin typeface="Calibri"/>
              </a:rPr>
              <a:t>React 18 + Vite, served by unprivileged nginx</a:t>
            </a:r>
          </a:p>
        </p:txBody>
      </p:sp>
      <p:sp>
        <p:nvSpPr>
          <p:cNvPr id="5" name="Rectangle 4"/>
          <p:cNvSpPr/>
          <p:nvPr/>
        </p:nvSpPr>
        <p:spPr>
          <a:xfrm>
            <a:off x="3413683" y="2743200"/>
            <a:ext cx="2590723" cy="173736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BACKEND</a:t>
            </a:r>
          </a:p>
          <a:p>
            <a:pPr>
              <a:spcAft>
                <a:spcPts val="400"/>
              </a:spcAft>
            </a:pPr>
            <a:r>
              <a:rPr sz="1500" b="0">
                <a:solidFill>
                  <a:srgbClr val="E6EDF3"/>
                </a:solidFill>
                <a:latin typeface="Calibri"/>
              </a:rPr>
              <a:t>FastAPI, SQLAlchemy, Alembic migrations, Prometheus metrics</a:t>
            </a:r>
          </a:p>
        </p:txBody>
      </p:sp>
      <p:sp>
        <p:nvSpPr>
          <p:cNvPr id="6" name="Rectangle 5"/>
          <p:cNvSpPr/>
          <p:nvPr/>
        </p:nvSpPr>
        <p:spPr>
          <a:xfrm>
            <a:off x="6187287" y="2743200"/>
            <a:ext cx="2590723" cy="173736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DATABASE</a:t>
            </a:r>
          </a:p>
          <a:p>
            <a:pPr>
              <a:spcAft>
                <a:spcPts val="400"/>
              </a:spcAft>
            </a:pPr>
            <a:r>
              <a:rPr sz="1500" b="0">
                <a:solidFill>
                  <a:srgbClr val="E6EDF3"/>
                </a:solidFill>
                <a:latin typeface="Calibri"/>
              </a:rPr>
              <a:t>PostgreSQL 16, StatefulSet with a persistent volume</a:t>
            </a:r>
          </a:p>
        </p:txBody>
      </p:sp>
      <p:sp>
        <p:nvSpPr>
          <p:cNvPr id="7" name="Rectangle 6"/>
          <p:cNvSpPr/>
          <p:nvPr/>
        </p:nvSpPr>
        <p:spPr>
          <a:xfrm>
            <a:off x="8960891" y="2743200"/>
            <a:ext cx="2590723" cy="173736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PLATFORM</a:t>
            </a:r>
          </a:p>
          <a:p>
            <a:pPr>
              <a:spcAft>
                <a:spcPts val="400"/>
              </a:spcAft>
            </a:pPr>
            <a:r>
              <a:rPr sz="1500" b="0">
                <a:solidFill>
                  <a:srgbClr val="E6EDF3"/>
                </a:solidFill>
                <a:latin typeface="Calibri"/>
              </a:rPr>
              <a:t>Docker, GitHub Actions, Trivy, GHCR, Terraform, Helm, Kubernetes, Prometheus, Grafana</a:t>
            </a:r>
          </a:p>
        </p:txBody>
      </p:sp>
      <p:sp>
        <p:nvSpPr>
          <p:cNvPr id="8" name="TextBox 7"/>
          <p:cNvSpPr txBox="1"/>
          <p:nvPr/>
        </p:nvSpPr>
        <p:spPr>
          <a:xfrm>
            <a:off x="640080" y="4846320"/>
            <a:ext cx="10911535" cy="822960"/>
          </a:xfrm>
          <a:prstGeom prst="rect">
            <a:avLst/>
          </a:prstGeom>
          <a:noFill/>
        </p:spPr>
        <p:txBody>
          <a:bodyPr wrap="square" lIns="137160" rIns="137160" tIns="91440" bIns="91440">
            <a:spAutoFit/>
          </a:bodyPr>
          <a:lstStyle/>
          <a:p>
            <a:pPr>
              <a:spcAft>
                <a:spcPts val="400"/>
              </a:spcAft>
            </a:pPr>
            <a:r>
              <a:rPr sz="1600" b="0">
                <a:solidFill>
                  <a:srgbClr val="8B98A8"/>
                </a:solidFill>
                <a:latin typeface="Calibri"/>
              </a:rPr>
              <a:t>The app is small on purpose. The point of the project is the path it takes to production, not the number of features.</a:t>
            </a:r>
          </a:p>
        </p:txBody>
      </p:sp>
      <p:sp>
        <p:nvSpPr>
          <p:cNvPr id="9" name="TextBox 8"/>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10" name="TextBox 9"/>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71F"/>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The path from a commit to a running pod</a:t>
            </a:r>
          </a:p>
        </p:txBody>
      </p:sp>
      <p:sp>
        <p:nvSpPr>
          <p:cNvPr id="3" name="Rectangle 2"/>
          <p:cNvSpPr/>
          <p:nvPr/>
        </p:nvSpPr>
        <p:spPr>
          <a:xfrm>
            <a:off x="6400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Commit</a:t>
            </a:r>
          </a:p>
          <a:p>
            <a:pPr algn="ctr">
              <a:spcAft>
                <a:spcPts val="400"/>
              </a:spcAft>
            </a:pPr>
            <a:r>
              <a:rPr sz="1100" b="0">
                <a:solidFill>
                  <a:srgbClr val="8B98A8"/>
                </a:solidFill>
                <a:latin typeface="Calibri"/>
              </a:rPr>
              <a:t>git push main</a:t>
            </a:r>
          </a:p>
        </p:txBody>
      </p:sp>
      <p:sp>
        <p:nvSpPr>
          <p:cNvPr id="4" name="TextBox 3"/>
          <p:cNvSpPr txBox="1"/>
          <p:nvPr/>
        </p:nvSpPr>
        <p:spPr>
          <a:xfrm>
            <a:off x="2240280" y="1828800"/>
            <a:ext cx="228600" cy="457200"/>
          </a:xfrm>
          <a:prstGeom prst="rect">
            <a:avLst/>
          </a:prstGeom>
          <a:noFill/>
        </p:spPr>
        <p:txBody>
          <a:bodyPr wrap="square" lIns="137160" rIns="137160" tIns="91440" bIns="91440">
            <a:spAutoFit/>
          </a:bodyPr>
          <a:lstStyle/>
          <a:p>
            <a:pPr algn="ctr">
              <a:spcAft>
                <a:spcPts val="400"/>
              </a:spcAft>
            </a:pPr>
            <a:r>
              <a:rPr sz="1800" b="0">
                <a:solidFill>
                  <a:srgbClr val="4FD1A5"/>
                </a:solidFill>
                <a:latin typeface="Calibri"/>
              </a:rPr>
              <a:t>→</a:t>
            </a:r>
          </a:p>
        </p:txBody>
      </p:sp>
      <p:sp>
        <p:nvSpPr>
          <p:cNvPr id="5" name="Rectangle 4"/>
          <p:cNvSpPr/>
          <p:nvPr/>
        </p:nvSpPr>
        <p:spPr>
          <a:xfrm>
            <a:off x="24688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Test</a:t>
            </a:r>
          </a:p>
          <a:p>
            <a:pPr algn="ctr">
              <a:spcAft>
                <a:spcPts val="400"/>
              </a:spcAft>
            </a:pPr>
            <a:r>
              <a:rPr sz="1100" b="0">
                <a:solidFill>
                  <a:srgbClr val="8B98A8"/>
                </a:solidFill>
                <a:latin typeface="Calibri"/>
              </a:rPr>
              <a:t>ruff, pytest, npm build</a:t>
            </a:r>
          </a:p>
        </p:txBody>
      </p:sp>
      <p:sp>
        <p:nvSpPr>
          <p:cNvPr id="6" name="TextBox 5"/>
          <p:cNvSpPr txBox="1"/>
          <p:nvPr/>
        </p:nvSpPr>
        <p:spPr>
          <a:xfrm>
            <a:off x="4069080" y="1828800"/>
            <a:ext cx="228600" cy="457200"/>
          </a:xfrm>
          <a:prstGeom prst="rect">
            <a:avLst/>
          </a:prstGeom>
          <a:noFill/>
        </p:spPr>
        <p:txBody>
          <a:bodyPr wrap="square" lIns="137160" rIns="137160" tIns="91440" bIns="91440">
            <a:spAutoFit/>
          </a:bodyPr>
          <a:lstStyle/>
          <a:p>
            <a:pPr algn="ctr">
              <a:spcAft>
                <a:spcPts val="400"/>
              </a:spcAft>
            </a:pPr>
            <a:r>
              <a:rPr sz="1800" b="0">
                <a:solidFill>
                  <a:srgbClr val="4FD1A5"/>
                </a:solidFill>
                <a:latin typeface="Calibri"/>
              </a:rPr>
              <a:t>→</a:t>
            </a:r>
          </a:p>
        </p:txBody>
      </p:sp>
      <p:sp>
        <p:nvSpPr>
          <p:cNvPr id="7" name="Rectangle 6"/>
          <p:cNvSpPr/>
          <p:nvPr/>
        </p:nvSpPr>
        <p:spPr>
          <a:xfrm>
            <a:off x="42976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Build</a:t>
            </a:r>
          </a:p>
          <a:p>
            <a:pPr algn="ctr">
              <a:spcAft>
                <a:spcPts val="400"/>
              </a:spcAft>
            </a:pPr>
            <a:r>
              <a:rPr sz="1100" b="0">
                <a:solidFill>
                  <a:srgbClr val="8B98A8"/>
                </a:solidFill>
                <a:latin typeface="Calibri"/>
              </a:rPr>
              <a:t>2 images, SHA tag</a:t>
            </a:r>
          </a:p>
        </p:txBody>
      </p:sp>
      <p:sp>
        <p:nvSpPr>
          <p:cNvPr id="8" name="TextBox 7"/>
          <p:cNvSpPr txBox="1"/>
          <p:nvPr/>
        </p:nvSpPr>
        <p:spPr>
          <a:xfrm>
            <a:off x="5897880" y="1828800"/>
            <a:ext cx="228600" cy="457200"/>
          </a:xfrm>
          <a:prstGeom prst="rect">
            <a:avLst/>
          </a:prstGeom>
          <a:noFill/>
        </p:spPr>
        <p:txBody>
          <a:bodyPr wrap="square" lIns="137160" rIns="137160" tIns="91440" bIns="91440">
            <a:spAutoFit/>
          </a:bodyPr>
          <a:lstStyle/>
          <a:p>
            <a:pPr algn="ctr">
              <a:spcAft>
                <a:spcPts val="400"/>
              </a:spcAft>
            </a:pPr>
            <a:r>
              <a:rPr sz="1800" b="0">
                <a:solidFill>
                  <a:srgbClr val="4FD1A5"/>
                </a:solidFill>
                <a:latin typeface="Calibri"/>
              </a:rPr>
              <a:t>→</a:t>
            </a:r>
          </a:p>
        </p:txBody>
      </p:sp>
      <p:sp>
        <p:nvSpPr>
          <p:cNvPr id="9" name="Rectangle 8"/>
          <p:cNvSpPr/>
          <p:nvPr/>
        </p:nvSpPr>
        <p:spPr>
          <a:xfrm>
            <a:off x="61264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Scan</a:t>
            </a:r>
          </a:p>
          <a:p>
            <a:pPr algn="ctr">
              <a:spcAft>
                <a:spcPts val="400"/>
              </a:spcAft>
            </a:pPr>
            <a:r>
              <a:rPr sz="1100" b="0">
                <a:solidFill>
                  <a:srgbClr val="8B98A8"/>
                </a:solidFill>
                <a:latin typeface="Calibri"/>
              </a:rPr>
              <a:t>Trivy gate</a:t>
            </a:r>
          </a:p>
        </p:txBody>
      </p:sp>
      <p:sp>
        <p:nvSpPr>
          <p:cNvPr id="10" name="TextBox 9"/>
          <p:cNvSpPr txBox="1"/>
          <p:nvPr/>
        </p:nvSpPr>
        <p:spPr>
          <a:xfrm>
            <a:off x="7726680" y="1828800"/>
            <a:ext cx="228600" cy="457200"/>
          </a:xfrm>
          <a:prstGeom prst="rect">
            <a:avLst/>
          </a:prstGeom>
          <a:noFill/>
        </p:spPr>
        <p:txBody>
          <a:bodyPr wrap="square" lIns="137160" rIns="137160" tIns="91440" bIns="91440">
            <a:spAutoFit/>
          </a:bodyPr>
          <a:lstStyle/>
          <a:p>
            <a:pPr algn="ctr">
              <a:spcAft>
                <a:spcPts val="400"/>
              </a:spcAft>
            </a:pPr>
            <a:r>
              <a:rPr sz="1800" b="0">
                <a:solidFill>
                  <a:srgbClr val="4FD1A5"/>
                </a:solidFill>
                <a:latin typeface="Calibri"/>
              </a:rPr>
              <a:t>→</a:t>
            </a:r>
          </a:p>
        </p:txBody>
      </p:sp>
      <p:sp>
        <p:nvSpPr>
          <p:cNvPr id="11" name="Rectangle 10"/>
          <p:cNvSpPr/>
          <p:nvPr/>
        </p:nvSpPr>
        <p:spPr>
          <a:xfrm>
            <a:off x="79552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Push</a:t>
            </a:r>
          </a:p>
          <a:p>
            <a:pPr algn="ctr">
              <a:spcAft>
                <a:spcPts val="400"/>
              </a:spcAft>
            </a:pPr>
            <a:r>
              <a:rPr sz="1100" b="0">
                <a:solidFill>
                  <a:srgbClr val="8B98A8"/>
                </a:solidFill>
                <a:latin typeface="Calibri"/>
              </a:rPr>
              <a:t>GHCR</a:t>
            </a:r>
          </a:p>
        </p:txBody>
      </p:sp>
      <p:sp>
        <p:nvSpPr>
          <p:cNvPr id="12" name="TextBox 11"/>
          <p:cNvSpPr txBox="1"/>
          <p:nvPr/>
        </p:nvSpPr>
        <p:spPr>
          <a:xfrm>
            <a:off x="9555480" y="1828800"/>
            <a:ext cx="228600" cy="457200"/>
          </a:xfrm>
          <a:prstGeom prst="rect">
            <a:avLst/>
          </a:prstGeom>
          <a:noFill/>
        </p:spPr>
        <p:txBody>
          <a:bodyPr wrap="square" lIns="137160" rIns="137160" tIns="91440" bIns="91440">
            <a:spAutoFit/>
          </a:bodyPr>
          <a:lstStyle/>
          <a:p>
            <a:pPr algn="ctr">
              <a:spcAft>
                <a:spcPts val="400"/>
              </a:spcAft>
            </a:pPr>
            <a:r>
              <a:rPr sz="1800" b="0">
                <a:solidFill>
                  <a:srgbClr val="4FD1A5"/>
                </a:solidFill>
                <a:latin typeface="Calibri"/>
              </a:rPr>
              <a:t>→</a:t>
            </a:r>
          </a:p>
        </p:txBody>
      </p:sp>
      <p:sp>
        <p:nvSpPr>
          <p:cNvPr id="13" name="Rectangle 12"/>
          <p:cNvSpPr/>
          <p:nvPr/>
        </p:nvSpPr>
        <p:spPr>
          <a:xfrm>
            <a:off x="9784080" y="1554480"/>
            <a:ext cx="1600200" cy="1097280"/>
          </a:xfrm>
          <a:prstGeom prst="rect">
            <a:avLst/>
          </a:prstGeom>
          <a:solidFill>
            <a:srgbClr val="0F1419"/>
          </a:solidFill>
          <a:ln>
            <a:solidFill>
              <a:srgbClr val="4FD1A5"/>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600" b="1">
                <a:solidFill>
                  <a:srgbClr val="E6EDF3"/>
                </a:solidFill>
                <a:latin typeface="Calibri"/>
              </a:rPr>
              <a:t>Deploy</a:t>
            </a:r>
          </a:p>
          <a:p>
            <a:pPr algn="ctr">
              <a:spcAft>
                <a:spcPts val="400"/>
              </a:spcAft>
            </a:pPr>
            <a:r>
              <a:rPr sz="1100" b="0">
                <a:solidFill>
                  <a:srgbClr val="8B98A8"/>
                </a:solidFill>
                <a:latin typeface="Calibri"/>
              </a:rPr>
              <a:t>helm upgrade</a:t>
            </a:r>
          </a:p>
        </p:txBody>
      </p:sp>
      <p:sp>
        <p:nvSpPr>
          <p:cNvPr id="14" name="Rectangle 13"/>
          <p:cNvSpPr/>
          <p:nvPr/>
        </p:nvSpPr>
        <p:spPr>
          <a:xfrm>
            <a:off x="640080" y="3291840"/>
            <a:ext cx="3515258" cy="1554480"/>
          </a:xfrm>
          <a:prstGeom prst="rect">
            <a:avLst/>
          </a:prstGeom>
          <a:solidFill>
            <a:srgbClr val="0F1419"/>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7CC4FF"/>
                </a:solidFill>
                <a:latin typeface="Calibri"/>
              </a:rPr>
              <a:t>UNDERNEATH</a:t>
            </a:r>
          </a:p>
          <a:p>
            <a:pPr>
              <a:spcAft>
                <a:spcPts val="400"/>
              </a:spcAft>
            </a:pPr>
            <a:r>
              <a:rPr sz="1500" b="0">
                <a:solidFill>
                  <a:srgbClr val="E6EDF3"/>
                </a:solidFill>
                <a:latin typeface="Calibri"/>
              </a:rPr>
              <a:t>Terraform describes the VPC and the EKS cluster the production release would run on</a:t>
            </a:r>
          </a:p>
        </p:txBody>
      </p:sp>
      <p:sp>
        <p:nvSpPr>
          <p:cNvPr id="15" name="Rectangle 14"/>
          <p:cNvSpPr/>
          <p:nvPr/>
        </p:nvSpPr>
        <p:spPr>
          <a:xfrm>
            <a:off x="4338218" y="3291840"/>
            <a:ext cx="3515258" cy="1554480"/>
          </a:xfrm>
          <a:prstGeom prst="rect">
            <a:avLst/>
          </a:prstGeom>
          <a:solidFill>
            <a:srgbClr val="0F1419"/>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7CC4FF"/>
                </a:solidFill>
                <a:latin typeface="Calibri"/>
              </a:rPr>
              <a:t>INSIDE THE CLUSTER</a:t>
            </a:r>
          </a:p>
          <a:p>
            <a:pPr>
              <a:spcAft>
                <a:spcPts val="400"/>
              </a:spcAft>
            </a:pPr>
            <a:r>
              <a:rPr sz="1500" b="0">
                <a:solidFill>
                  <a:srgbClr val="E6EDF3"/>
                </a:solidFill>
                <a:latin typeface="Calibri"/>
              </a:rPr>
              <a:t>Ingress routes traffic, the HPA scales the backend, Postgres keeps its volume</a:t>
            </a:r>
          </a:p>
        </p:txBody>
      </p:sp>
      <p:sp>
        <p:nvSpPr>
          <p:cNvPr id="16" name="Rectangle 15"/>
          <p:cNvSpPr/>
          <p:nvPr/>
        </p:nvSpPr>
        <p:spPr>
          <a:xfrm>
            <a:off x="8036356" y="3291840"/>
            <a:ext cx="3515258" cy="1554480"/>
          </a:xfrm>
          <a:prstGeom prst="rect">
            <a:avLst/>
          </a:prstGeom>
          <a:solidFill>
            <a:srgbClr val="0F1419"/>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7CC4FF"/>
                </a:solidFill>
                <a:latin typeface="Calibri"/>
              </a:rPr>
              <a:t>WATCHING IT</a:t>
            </a:r>
          </a:p>
          <a:p>
            <a:pPr>
              <a:spcAft>
                <a:spcPts val="400"/>
              </a:spcAft>
            </a:pPr>
            <a:r>
              <a:rPr sz="1500" b="0">
                <a:solidFill>
                  <a:srgbClr val="E6EDF3"/>
                </a:solidFill>
                <a:latin typeface="Calibri"/>
              </a:rPr>
              <a:t>Prometheus scrapes /metrics through a ServiceMonitor, Grafana shows the dashboard</a:t>
            </a:r>
          </a:p>
        </p:txBody>
      </p:sp>
      <p:sp>
        <p:nvSpPr>
          <p:cNvPr id="17" name="TextBox 16"/>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18" name="TextBox 17"/>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Application: six REST endpoints and a responsive UI</a:t>
            </a:r>
          </a:p>
        </p:txBody>
      </p:sp>
      <p:sp>
        <p:nvSpPr>
          <p:cNvPr id="3" name="TextBox 2"/>
          <p:cNvSpPr txBox="1"/>
          <p:nvPr/>
        </p:nvSpPr>
        <p:spPr>
          <a:xfrm>
            <a:off x="640080" y="1371600"/>
            <a:ext cx="4206240" cy="5029200"/>
          </a:xfrm>
          <a:prstGeom prst="rect">
            <a:avLst/>
          </a:prstGeom>
          <a:noFill/>
        </p:spPr>
        <p:txBody>
          <a:bodyPr wrap="square">
            <a:spAutoFit/>
          </a:bodyPr>
          <a:lstStyle/>
          <a:p>
            <a:pPr>
              <a:spcAft>
                <a:spcPts val="800"/>
              </a:spcAft>
            </a:pPr>
            <a:r>
              <a:rPr sz="1600">
                <a:solidFill>
                  <a:srgbClr val="BFD8D5"/>
                </a:solidFill>
                <a:latin typeface="Calibri"/>
              </a:rPr>
              <a:t>•  GET/POST /api/expenses, GET/PUT/DELETE /api/expenses/{id}, GET /api/expenses/summary</a:t>
            </a:r>
          </a:p>
          <a:p>
            <a:pPr>
              <a:spcAft>
                <a:spcPts val="800"/>
              </a:spcAft>
            </a:pPr>
            <a:r>
              <a:rPr sz="1600">
                <a:solidFill>
                  <a:srgbClr val="BFD8D5"/>
                </a:solidFill>
                <a:latin typeface="Calibri"/>
              </a:rPr>
              <a:t>•  /health is liveness only; /ready runs SELECT 1 against Postgres and answers 503 if it fails</a:t>
            </a:r>
          </a:p>
          <a:p>
            <a:pPr>
              <a:spcAft>
                <a:spcPts val="800"/>
              </a:spcAft>
            </a:pPr>
            <a:r>
              <a:rPr sz="1600">
                <a:solidFill>
                  <a:srgbClr val="BFD8D5"/>
                </a:solidFill>
                <a:latin typeface="Calibri"/>
              </a:rPr>
              <a:t>•  /metrics in Prometheus format</a:t>
            </a:r>
          </a:p>
          <a:p>
            <a:pPr>
              <a:spcAft>
                <a:spcPts val="800"/>
              </a:spcAft>
            </a:pPr>
            <a:r>
              <a:rPr sz="1600">
                <a:solidFill>
                  <a:srgbClr val="BFD8D5"/>
                </a:solidFill>
                <a:latin typeface="Calibri"/>
              </a:rPr>
              <a:t>•  Schema owned by an Alembic migration; the container runs alembic upgrade head before uvicorn starts</a:t>
            </a:r>
          </a:p>
        </p:txBody>
      </p:sp>
      <p:pic>
        <p:nvPicPr>
          <p:cNvPr id="4" name="Picture 3" descr="app-ui-compose-browser.png"/>
          <p:cNvPicPr>
            <a:picLocks noChangeAspect="1"/>
          </p:cNvPicPr>
          <p:nvPr/>
        </p:nvPicPr>
        <p:blipFill>
          <a:blip r:embed="rId2"/>
          <a:stretch>
            <a:fillRect/>
          </a:stretch>
        </p:blipFill>
        <p:spPr>
          <a:xfrm>
            <a:off x="5120640" y="1371600"/>
            <a:ext cx="6430975" cy="4134198"/>
          </a:xfrm>
          <a:prstGeom prst="rect">
            <a:avLst/>
          </a:prstGeom>
        </p:spPr>
      </p:pic>
      <p:sp>
        <p:nvSpPr>
          <p:cNvPr id="5" name="TextBox 4"/>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6" name="TextBox 5"/>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Tests run before any image exists</a:t>
            </a:r>
          </a:p>
        </p:txBody>
      </p:sp>
      <p:sp>
        <p:nvSpPr>
          <p:cNvPr id="3" name="Rectangle 2"/>
          <p:cNvSpPr/>
          <p:nvPr/>
        </p:nvSpPr>
        <p:spPr>
          <a:xfrm>
            <a:off x="640080" y="1371600"/>
            <a:ext cx="4206240" cy="914400"/>
          </a:xfrm>
          <a:prstGeom prst="rect">
            <a:avLst/>
          </a:prstGeom>
          <a:solidFill>
            <a:srgbClr val="171D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3400" b="1">
                <a:solidFill>
                  <a:srgbClr val="4FD1A5"/>
                </a:solidFill>
                <a:latin typeface="Calibri"/>
              </a:rPr>
              <a:t>13 tests · 7 endpoints</a:t>
            </a:r>
          </a:p>
          <a:p>
            <a:pPr>
              <a:spcAft>
                <a:spcPts val="400"/>
              </a:spcAft>
            </a:pPr>
            <a:r>
              <a:rPr sz="1200" b="0">
                <a:solidFill>
                  <a:srgbClr val="8B98A8"/>
                </a:solidFill>
                <a:latin typeface="Calibri"/>
              </a:rPr>
              <a:t>pytest -v, all passed</a:t>
            </a:r>
          </a:p>
        </p:txBody>
      </p:sp>
      <p:sp>
        <p:nvSpPr>
          <p:cNvPr id="4" name="TextBox 3"/>
          <p:cNvSpPr txBox="1"/>
          <p:nvPr/>
        </p:nvSpPr>
        <p:spPr>
          <a:xfrm>
            <a:off x="640080" y="2423160"/>
            <a:ext cx="4206240" cy="3977640"/>
          </a:xfrm>
          <a:prstGeom prst="rect">
            <a:avLst/>
          </a:prstGeom>
          <a:noFill/>
        </p:spPr>
        <p:txBody>
          <a:bodyPr wrap="square">
            <a:spAutoFit/>
          </a:bodyPr>
          <a:lstStyle/>
          <a:p>
            <a:pPr>
              <a:spcAft>
                <a:spcPts val="800"/>
              </a:spcAft>
            </a:pPr>
            <a:r>
              <a:rPr sz="1600">
                <a:solidFill>
                  <a:srgbClr val="BFD8D5"/>
                </a:solidFill>
                <a:latin typeface="Calibri"/>
              </a:rPr>
              <a:t>•  Happy paths, 404s, 422 validation, empty-database summary</a:t>
            </a:r>
          </a:p>
          <a:p>
            <a:pPr>
              <a:spcAft>
                <a:spcPts val="800"/>
              </a:spcAft>
            </a:pPr>
            <a:r>
              <a:rPr sz="1600">
                <a:solidFill>
                  <a:srgbClr val="BFD8D5"/>
                </a:solidFill>
                <a:latin typeface="Calibri"/>
              </a:rPr>
              <a:t>•  conftest.py points DATABASE_URL at a throw-away SQLite file; tables are dropped and recreated around every test</a:t>
            </a:r>
          </a:p>
          <a:p>
            <a:pPr>
              <a:spcAft>
                <a:spcPts val="800"/>
              </a:spcAft>
            </a:pPr>
            <a:r>
              <a:rPr sz="1600">
                <a:solidFill>
                  <a:srgbClr val="BFD8D5"/>
                </a:solidFill>
                <a:latin typeface="Calibri"/>
              </a:rPr>
              <a:t>•  ruff lint runs in the same job</a:t>
            </a:r>
          </a:p>
          <a:p>
            <a:pPr>
              <a:spcAft>
                <a:spcPts val="800"/>
              </a:spcAft>
            </a:pPr>
            <a:r>
              <a:rPr sz="1600">
                <a:solidFill>
                  <a:srgbClr val="BFD8D5"/>
                </a:solidFill>
                <a:latin typeface="Calibri"/>
              </a:rPr>
              <a:t>•  A failing test stops the pipeline: the build job never starts</a:t>
            </a:r>
          </a:p>
        </p:txBody>
      </p:sp>
      <p:pic>
        <p:nvPicPr>
          <p:cNvPr id="5" name="Picture 4" descr="pytest-verbose-terminal.png"/>
          <p:cNvPicPr>
            <a:picLocks noChangeAspect="1"/>
          </p:cNvPicPr>
          <p:nvPr/>
        </p:nvPicPr>
        <p:blipFill>
          <a:blip r:embed="rId2"/>
          <a:stretch>
            <a:fillRect/>
          </a:stretch>
        </p:blipFill>
        <p:spPr>
          <a:xfrm>
            <a:off x="5120640" y="1371600"/>
            <a:ext cx="6430975" cy="4108678"/>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Git: one concern per commit</a:t>
            </a:r>
          </a:p>
        </p:txBody>
      </p:sp>
      <p:sp>
        <p:nvSpPr>
          <p:cNvPr id="3" name="TextBox 2"/>
          <p:cNvSpPr txBox="1"/>
          <p:nvPr/>
        </p:nvSpPr>
        <p:spPr>
          <a:xfrm>
            <a:off x="640080" y="1371600"/>
            <a:ext cx="4206240" cy="731520"/>
          </a:xfrm>
          <a:prstGeom prst="rect">
            <a:avLst/>
          </a:prstGeom>
          <a:noFill/>
        </p:spPr>
        <p:txBody>
          <a:bodyPr wrap="square" lIns="137160" rIns="137160" tIns="91440" bIns="91440">
            <a:spAutoFit/>
          </a:bodyPr>
          <a:lstStyle/>
          <a:p>
            <a:pPr>
              <a:spcAft>
                <a:spcPts val="400"/>
              </a:spcAft>
            </a:pPr>
            <a:r>
              <a:rPr sz="1400" b="0">
                <a:solidFill>
                  <a:srgbClr val="7CC4FF"/>
                </a:solidFill>
                <a:latin typeface="Courier New"/>
              </a:rPr>
              <a:t>github.com/gauri0508/ledger-capstone</a:t>
            </a:r>
          </a:p>
        </p:txBody>
      </p:sp>
      <p:sp>
        <p:nvSpPr>
          <p:cNvPr id="4" name="TextBox 3"/>
          <p:cNvSpPr txBox="1"/>
          <p:nvPr/>
        </p:nvSpPr>
        <p:spPr>
          <a:xfrm>
            <a:off x="640080" y="2194560"/>
            <a:ext cx="4206240" cy="4206240"/>
          </a:xfrm>
          <a:prstGeom prst="rect">
            <a:avLst/>
          </a:prstGeom>
          <a:noFill/>
        </p:spPr>
        <p:txBody>
          <a:bodyPr wrap="square">
            <a:spAutoFit/>
          </a:bodyPr>
          <a:lstStyle/>
          <a:p>
            <a:pPr>
              <a:spcAft>
                <a:spcPts val="800"/>
              </a:spcAft>
            </a:pPr>
            <a:r>
              <a:rPr sz="1600">
                <a:solidFill>
                  <a:srgbClr val="BFD8D5"/>
                </a:solidFill>
                <a:latin typeface="Calibri"/>
              </a:rPr>
              <a:t>•  Public repository, 27 commits</a:t>
            </a:r>
          </a:p>
          <a:p>
            <a:pPr>
              <a:spcAft>
                <a:spcPts val="800"/>
              </a:spcAft>
            </a:pPr>
            <a:r>
              <a:rPr sz="1600">
                <a:solidFill>
                  <a:srgbClr val="BFD8D5"/>
                </a:solidFill>
                <a:latin typeface="Calibri"/>
              </a:rPr>
              <a:t>•  Each commit is one piece: backend, tests, Dockerfile, frontend, chart, pipeline, monitoring</a:t>
            </a:r>
          </a:p>
          <a:p>
            <a:pPr>
              <a:spcAft>
                <a:spcPts val="800"/>
              </a:spcAft>
            </a:pPr>
            <a:r>
              <a:rPr sz="1600">
                <a:solidFill>
                  <a:srgbClr val="BFD8D5"/>
                </a:solidFill>
                <a:latin typeface="Calibri"/>
              </a:rPr>
              <a:t>•  Fixes are committed as fixes, with the reason in the message</a:t>
            </a:r>
          </a:p>
          <a:p>
            <a:pPr>
              <a:spcAft>
                <a:spcPts val="800"/>
              </a:spcAft>
            </a:pPr>
            <a:r>
              <a:rPr sz="1600">
                <a:solidFill>
                  <a:srgbClr val="BFD8D5"/>
                </a:solidFill>
                <a:latin typeface="Calibri"/>
              </a:rPr>
              <a:t>•  .gitignore keeps out .env, caches, node_modules, Terraform state</a:t>
            </a:r>
          </a:p>
          <a:p>
            <a:pPr>
              <a:spcAft>
                <a:spcPts val="800"/>
              </a:spcAft>
            </a:pPr>
            <a:r>
              <a:rPr sz="1600">
                <a:solidFill>
                  <a:srgbClr val="BFD8D5"/>
                </a:solidFill>
                <a:latin typeface="Calibri"/>
              </a:rPr>
              <a:t>•  No credentials in the history; the pipeline reads secrets from the repository settings</a:t>
            </a:r>
          </a:p>
        </p:txBody>
      </p:sp>
      <p:pic>
        <p:nvPicPr>
          <p:cNvPr id="5" name="Picture 4" descr="github-commit-history-browser.png"/>
          <p:cNvPicPr>
            <a:picLocks noChangeAspect="1"/>
          </p:cNvPicPr>
          <p:nvPr/>
        </p:nvPicPr>
        <p:blipFill>
          <a:blip r:embed="rId2"/>
          <a:stretch>
            <a:fillRect/>
          </a:stretch>
        </p:blipFill>
        <p:spPr>
          <a:xfrm>
            <a:off x="5252106" y="1371600"/>
            <a:ext cx="6168043" cy="4846320"/>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Docker: two images, both non-root</a:t>
            </a:r>
          </a:p>
        </p:txBody>
      </p:sp>
      <p:sp>
        <p:nvSpPr>
          <p:cNvPr id="3" name="Rectangle 2"/>
          <p:cNvSpPr/>
          <p:nvPr/>
        </p:nvSpPr>
        <p:spPr>
          <a:xfrm>
            <a:off x="640080" y="1371600"/>
            <a:ext cx="4206240"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BACKEND · 379 MB</a:t>
            </a:r>
          </a:p>
          <a:p>
            <a:pPr>
              <a:spcAft>
                <a:spcPts val="400"/>
              </a:spcAft>
            </a:pPr>
            <a:r>
              <a:rPr sz="1400" b="0">
                <a:solidFill>
                  <a:srgbClr val="BFD8D5"/>
                </a:solidFill>
                <a:latin typeface="Calibri"/>
              </a:rPr>
              <a:t>python:3.12-slim, user ledger (uid 10001), HEALTHCHECK on /health, entrypoint migrates then starts uvicorn</a:t>
            </a:r>
          </a:p>
        </p:txBody>
      </p:sp>
      <p:sp>
        <p:nvSpPr>
          <p:cNvPr id="4" name="Rectangle 3"/>
          <p:cNvSpPr/>
          <p:nvPr/>
        </p:nvSpPr>
        <p:spPr>
          <a:xfrm>
            <a:off x="640080" y="2880360"/>
            <a:ext cx="4206240"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FRONTEND · 112 MB</a:t>
            </a:r>
          </a:p>
          <a:p>
            <a:pPr>
              <a:spcAft>
                <a:spcPts val="400"/>
              </a:spcAft>
            </a:pPr>
            <a:r>
              <a:rPr sz="1400" b="0">
                <a:solidFill>
                  <a:srgbClr val="BFD8D5"/>
                </a:solidFill>
                <a:latin typeface="Calibri"/>
              </a:rPr>
              <a:t>Multi-stage: node:22 builds dist/, only dist/ is copied into nginx-unprivileged (uid 101). No Node in the final image</a:t>
            </a:r>
          </a:p>
        </p:txBody>
      </p:sp>
      <p:sp>
        <p:nvSpPr>
          <p:cNvPr id="5" name="TextBox 4"/>
          <p:cNvSpPr txBox="1"/>
          <p:nvPr/>
        </p:nvSpPr>
        <p:spPr>
          <a:xfrm>
            <a:off x="640080" y="4389120"/>
            <a:ext cx="4206240" cy="2011680"/>
          </a:xfrm>
          <a:prstGeom prst="rect">
            <a:avLst/>
          </a:prstGeom>
          <a:noFill/>
        </p:spPr>
        <p:txBody>
          <a:bodyPr wrap="square">
            <a:spAutoFit/>
          </a:bodyPr>
          <a:lstStyle/>
          <a:p>
            <a:pPr>
              <a:spcAft>
                <a:spcPts val="800"/>
              </a:spcAft>
            </a:pPr>
            <a:r>
              <a:rPr sz="1600">
                <a:solidFill>
                  <a:srgbClr val="BFD8D5"/>
                </a:solidFill>
                <a:latin typeface="Calibri"/>
              </a:rPr>
              <a:t>•  docker compose up --build starts Postgres, the API and the UI; the API waits for the Postgres health check</a:t>
            </a:r>
          </a:p>
        </p:txBody>
      </p:sp>
      <p:pic>
        <p:nvPicPr>
          <p:cNvPr id="6" name="Picture 5" descr="docker-build-images-nonroot-terminal.png"/>
          <p:cNvPicPr>
            <a:picLocks noChangeAspect="1"/>
          </p:cNvPicPr>
          <p:nvPr/>
        </p:nvPicPr>
        <p:blipFill>
          <a:blip r:embed="rId2"/>
          <a:stretch>
            <a:fillRect/>
          </a:stretch>
        </p:blipFill>
        <p:spPr>
          <a:xfrm>
            <a:off x="5428335" y="1371600"/>
            <a:ext cx="5815584" cy="4846320"/>
          </a:xfrm>
          <a:prstGeom prst="rect">
            <a:avLst/>
          </a:prstGeom>
        </p:spPr>
      </p:pic>
      <p:sp>
        <p:nvSpPr>
          <p:cNvPr id="7" name="TextBox 6"/>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8" name="TextBox 7"/>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CI/CD: three jobs on every push to main</a:t>
            </a:r>
          </a:p>
        </p:txBody>
      </p:sp>
      <p:sp>
        <p:nvSpPr>
          <p:cNvPr id="3" name="Rectangle 2"/>
          <p:cNvSpPr/>
          <p:nvPr/>
        </p:nvSpPr>
        <p:spPr>
          <a:xfrm>
            <a:off x="640080" y="1371600"/>
            <a:ext cx="4206240"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1 · TEST</a:t>
            </a:r>
          </a:p>
          <a:p>
            <a:pPr>
              <a:spcAft>
                <a:spcPts val="400"/>
              </a:spcAft>
            </a:pPr>
            <a:r>
              <a:rPr sz="1400" b="0">
                <a:solidFill>
                  <a:srgbClr val="BFD8D5"/>
                </a:solidFill>
                <a:latin typeface="Calibri"/>
              </a:rPr>
              <a:t>ruff, pytest with a JUnit artifact, npm build with the dist artifact</a:t>
            </a:r>
          </a:p>
        </p:txBody>
      </p:sp>
      <p:sp>
        <p:nvSpPr>
          <p:cNvPr id="4" name="Rectangle 3"/>
          <p:cNvSpPr/>
          <p:nvPr/>
        </p:nvSpPr>
        <p:spPr>
          <a:xfrm>
            <a:off x="640080" y="2880360"/>
            <a:ext cx="4206240"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2 · BUILD-SCAN-PUSH</a:t>
            </a:r>
          </a:p>
          <a:p>
            <a:pPr>
              <a:spcAft>
                <a:spcPts val="400"/>
              </a:spcAft>
            </a:pPr>
            <a:r>
              <a:rPr sz="1400" b="0">
                <a:solidFill>
                  <a:srgbClr val="BFD8D5"/>
                </a:solidFill>
                <a:latin typeface="Calibri"/>
              </a:rPr>
              <a:t>docker build --pull --no-cache, tag = commit SHA, Trivy on both images, push to GHCR</a:t>
            </a:r>
          </a:p>
        </p:txBody>
      </p:sp>
      <p:sp>
        <p:nvSpPr>
          <p:cNvPr id="5" name="Rectangle 4"/>
          <p:cNvSpPr/>
          <p:nvPr/>
        </p:nvSpPr>
        <p:spPr>
          <a:xfrm>
            <a:off x="640080" y="4389120"/>
            <a:ext cx="4206240"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3 · DEPLOY</a:t>
            </a:r>
          </a:p>
          <a:p>
            <a:pPr>
              <a:spcAft>
                <a:spcPts val="400"/>
              </a:spcAft>
            </a:pPr>
            <a:r>
              <a:rPr sz="1400" b="0">
                <a:solidFill>
                  <a:srgbClr val="BFD8D5"/>
                </a:solidFill>
                <a:latin typeface="Calibri"/>
              </a:rPr>
              <a:t>helm upgrade --install with the SHA tag, then a smoke test through the Services</a:t>
            </a:r>
          </a:p>
        </p:txBody>
      </p:sp>
      <p:sp>
        <p:nvSpPr>
          <p:cNvPr id="6" name="TextBox 5"/>
          <p:cNvSpPr txBox="1"/>
          <p:nvPr/>
        </p:nvSpPr>
        <p:spPr>
          <a:xfrm>
            <a:off x="640080" y="5897880"/>
            <a:ext cx="4206240" cy="502920"/>
          </a:xfrm>
          <a:prstGeom prst="rect">
            <a:avLst/>
          </a:prstGeom>
          <a:noFill/>
        </p:spPr>
        <p:txBody>
          <a:bodyPr wrap="square">
            <a:spAutoFit/>
          </a:bodyPr>
          <a:lstStyle/>
          <a:p>
            <a:pPr>
              <a:spcAft>
                <a:spcPts val="800"/>
              </a:spcAft>
            </a:pPr>
            <a:r>
              <a:rPr sz="1600">
                <a:solidFill>
                  <a:srgbClr val="BFD8D5"/>
                </a:solidFill>
                <a:latin typeface="Calibri"/>
              </a:rPr>
              <a:t>•  On GitHub, jobs 1 and 2 ran green. Job 3 is gated on a variable because a hosted runner cannot reach my Minikube; the same file ran all three jobs locally with act.</a:t>
            </a:r>
          </a:p>
        </p:txBody>
      </p:sp>
      <p:pic>
        <p:nvPicPr>
          <p:cNvPr id="7" name="Picture 6" descr="github-actions-run-browser.png"/>
          <p:cNvPicPr>
            <a:picLocks noChangeAspect="1"/>
          </p:cNvPicPr>
          <p:nvPr/>
        </p:nvPicPr>
        <p:blipFill>
          <a:blip r:embed="rId2"/>
          <a:stretch>
            <a:fillRect/>
          </a:stretch>
        </p:blipFill>
        <p:spPr>
          <a:xfrm>
            <a:off x="5120640" y="1371600"/>
            <a:ext cx="6430975" cy="3766713"/>
          </a:xfrm>
          <a:prstGeom prst="rect">
            <a:avLst/>
          </a:prstGeom>
        </p:spPr>
      </p:pic>
      <p:sp>
        <p:nvSpPr>
          <p:cNvPr id="8" name="TextBox 7"/>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9" name="TextBox 8"/>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Security: Trivy fails the build on fixable HIGH or CRITICAL CVEs</a:t>
            </a:r>
          </a:p>
        </p:txBody>
      </p:sp>
      <p:sp>
        <p:nvSpPr>
          <p:cNvPr id="3" name="Rectangle 2"/>
          <p:cNvSpPr/>
          <p:nvPr/>
        </p:nvSpPr>
        <p:spPr>
          <a:xfrm>
            <a:off x="640080" y="1371600"/>
            <a:ext cx="4206240" cy="1463040"/>
          </a:xfrm>
          <a:prstGeom prst="rect">
            <a:avLst/>
          </a:prstGeom>
          <a:solidFill>
            <a:srgbClr val="171D25"/>
          </a:solidFill>
          <a:ln>
            <a:solidFill>
              <a:srgbClr val="7CC4F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7CC4FF"/>
                </a:solidFill>
                <a:latin typeface="Calibri"/>
              </a:rPr>
              <a:t>WHAT IT FOUND</a:t>
            </a:r>
          </a:p>
          <a:p>
            <a:pPr>
              <a:spcAft>
                <a:spcPts val="400"/>
              </a:spcAft>
            </a:pPr>
            <a:r>
              <a:rPr sz="1300" b="0">
                <a:solidFill>
                  <a:srgbClr val="E6EDF3"/>
                </a:solidFill>
                <a:latin typeface="Calibri"/>
              </a:rPr>
              <a:t>CVE-2026-4775 in libtiff 4.7.1 in the nginx base image, HIGH, fix available. The Dockerfile already ran apk upgrade, but Docker had cached that layer. Fix: the pipeline builds with --pull --no-cache. Both scans are clean since.</a:t>
            </a:r>
          </a:p>
        </p:txBody>
      </p:sp>
      <p:sp>
        <p:nvSpPr>
          <p:cNvPr id="4" name="TextBox 3"/>
          <p:cNvSpPr txBox="1"/>
          <p:nvPr/>
        </p:nvSpPr>
        <p:spPr>
          <a:xfrm>
            <a:off x="640080" y="2926080"/>
            <a:ext cx="4206240" cy="3474720"/>
          </a:xfrm>
          <a:prstGeom prst="rect">
            <a:avLst/>
          </a:prstGeom>
          <a:noFill/>
        </p:spPr>
        <p:txBody>
          <a:bodyPr wrap="square">
            <a:spAutoFit/>
          </a:bodyPr>
          <a:lstStyle/>
          <a:p>
            <a:pPr>
              <a:spcAft>
                <a:spcPts val="800"/>
              </a:spcAft>
            </a:pPr>
            <a:r>
              <a:rPr sz="1600">
                <a:solidFill>
                  <a:srgbClr val="BFD8D5"/>
                </a:solidFill>
                <a:latin typeface="Calibri"/>
              </a:rPr>
              <a:t>•  Both images scanned in the pipeline, exit code 1 on findings</a:t>
            </a:r>
          </a:p>
          <a:p>
            <a:pPr>
              <a:spcAft>
                <a:spcPts val="800"/>
              </a:spcAft>
            </a:pPr>
            <a:r>
              <a:rPr sz="1600">
                <a:solidFill>
                  <a:srgbClr val="BFD8D5"/>
                </a:solidFill>
                <a:latin typeface="Calibri"/>
              </a:rPr>
              <a:t>•  ignore-unfixed: a CVE with no patch yet cannot block a release nobody can fix</a:t>
            </a:r>
          </a:p>
        </p:txBody>
      </p:sp>
      <p:pic>
        <p:nvPicPr>
          <p:cNvPr id="5" name="Picture 4" descr="trivy-local-scan-terminal.png"/>
          <p:cNvPicPr>
            <a:picLocks noChangeAspect="1"/>
          </p:cNvPicPr>
          <p:nvPr/>
        </p:nvPicPr>
        <p:blipFill>
          <a:blip r:embed="rId2"/>
          <a:stretch>
            <a:fillRect/>
          </a:stretch>
        </p:blipFill>
        <p:spPr>
          <a:xfrm>
            <a:off x="5360897" y="1371600"/>
            <a:ext cx="5950461" cy="4846320"/>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Registry: the tag is the commit</a:t>
            </a:r>
          </a:p>
        </p:txBody>
      </p:sp>
      <p:sp>
        <p:nvSpPr>
          <p:cNvPr id="3" name="TextBox 2"/>
          <p:cNvSpPr txBox="1"/>
          <p:nvPr/>
        </p:nvSpPr>
        <p:spPr>
          <a:xfrm>
            <a:off x="640080" y="1371600"/>
            <a:ext cx="4206240" cy="731520"/>
          </a:xfrm>
          <a:prstGeom prst="rect">
            <a:avLst/>
          </a:prstGeom>
          <a:noFill/>
        </p:spPr>
        <p:txBody>
          <a:bodyPr wrap="square" lIns="137160" rIns="137160" tIns="91440" bIns="91440">
            <a:spAutoFit/>
          </a:bodyPr>
          <a:lstStyle/>
          <a:p>
            <a:pPr>
              <a:spcAft>
                <a:spcPts val="400"/>
              </a:spcAft>
            </a:pPr>
            <a:r>
              <a:rPr sz="1400" b="0">
                <a:solidFill>
                  <a:srgbClr val="7CC4FF"/>
                </a:solidFill>
                <a:latin typeface="Courier New"/>
              </a:rPr>
              <a:t>ghcr.io/gauri0508/ledger-backend:&lt;sha&gt;
ghcr.io/gauri0508/ledger-frontend:&lt;sha&gt;</a:t>
            </a:r>
          </a:p>
        </p:txBody>
      </p:sp>
      <p:sp>
        <p:nvSpPr>
          <p:cNvPr id="4" name="TextBox 3"/>
          <p:cNvSpPr txBox="1"/>
          <p:nvPr/>
        </p:nvSpPr>
        <p:spPr>
          <a:xfrm>
            <a:off x="640080" y="2194560"/>
            <a:ext cx="4206240" cy="4206240"/>
          </a:xfrm>
          <a:prstGeom prst="rect">
            <a:avLst/>
          </a:prstGeom>
          <a:noFill/>
        </p:spPr>
        <p:txBody>
          <a:bodyPr wrap="square">
            <a:spAutoFit/>
          </a:bodyPr>
          <a:lstStyle/>
          <a:p>
            <a:pPr>
              <a:spcAft>
                <a:spcPts val="800"/>
              </a:spcAft>
            </a:pPr>
            <a:r>
              <a:rPr sz="1600">
                <a:solidFill>
                  <a:srgbClr val="BFD8D5"/>
                </a:solidFill>
                <a:latin typeface="Calibri"/>
              </a:rPr>
              <a:t>•  Pushed by the GitHub run with GITHUB_TOKEN, no personal token in the workflow</a:t>
            </a:r>
          </a:p>
          <a:p>
            <a:pPr>
              <a:spcAft>
                <a:spcPts val="800"/>
              </a:spcAft>
            </a:pPr>
            <a:r>
              <a:rPr sz="1600">
                <a:solidFill>
                  <a:srgbClr val="BFD8D5"/>
                </a:solidFill>
                <a:latin typeface="Calibri"/>
              </a:rPr>
              <a:t>•  One tag per commit: commit A gives image A, commit B gives image B</a:t>
            </a:r>
          </a:p>
          <a:p>
            <a:pPr>
              <a:spcAft>
                <a:spcPts val="800"/>
              </a:spcAft>
            </a:pPr>
            <a:r>
              <a:rPr sz="1600">
                <a:solidFill>
                  <a:srgbClr val="BFD8D5"/>
                </a:solidFill>
                <a:latin typeface="Calibri"/>
              </a:rPr>
              <a:t>•  kubectl get pods shows the same SHA on every running container</a:t>
            </a:r>
          </a:p>
          <a:p>
            <a:pPr>
              <a:spcAft>
                <a:spcPts val="800"/>
              </a:spcAft>
            </a:pPr>
            <a:r>
              <a:rPr sz="1600">
                <a:solidFill>
                  <a:srgbClr val="BFD8D5"/>
                </a:solidFill>
                <a:latin typeface="Calibri"/>
              </a:rPr>
              <a:t>•  The image was pulled back from GHCR by that tag to prove it is there</a:t>
            </a:r>
          </a:p>
        </p:txBody>
      </p:sp>
      <p:pic>
        <p:nvPicPr>
          <p:cNvPr id="5" name="Picture 4" descr="ghcr-packages-sha-tags-terminal.png"/>
          <p:cNvPicPr>
            <a:picLocks noChangeAspect="1"/>
          </p:cNvPicPr>
          <p:nvPr/>
        </p:nvPicPr>
        <p:blipFill>
          <a:blip r:embed="rId2"/>
          <a:stretch>
            <a:fillRect/>
          </a:stretch>
        </p:blipFill>
        <p:spPr>
          <a:xfrm>
            <a:off x="5120640" y="1371600"/>
            <a:ext cx="6430975" cy="2097212"/>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Terraform: VPC and EKS as code</a:t>
            </a:r>
          </a:p>
        </p:txBody>
      </p:sp>
      <p:sp>
        <p:nvSpPr>
          <p:cNvPr id="3" name="Rectangle 2"/>
          <p:cNvSpPr/>
          <p:nvPr/>
        </p:nvSpPr>
        <p:spPr>
          <a:xfrm>
            <a:off x="640080" y="1371600"/>
            <a:ext cx="4206240" cy="1463040"/>
          </a:xfrm>
          <a:prstGeom prst="rect">
            <a:avLst/>
          </a:prstGeom>
          <a:solidFill>
            <a:srgbClr val="171D25"/>
          </a:solidFill>
          <a:ln>
            <a:solidFill>
              <a:srgbClr val="7CC4F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7CC4FF"/>
                </a:solidFill>
                <a:latin typeface="Calibri"/>
              </a:rPr>
              <a:t>WHERE IT RAN</a:t>
            </a:r>
          </a:p>
          <a:p>
            <a:pPr>
              <a:spcAft>
                <a:spcPts val="400"/>
              </a:spcAft>
            </a:pPr>
            <a:r>
              <a:rPr sz="1300" b="0">
                <a:solidFill>
                  <a:srgbClr val="E6EDF3"/>
                </a:solidFill>
                <a:latin typeface="Calibri"/>
              </a:rPr>
              <a:t>No AWS account on this machine: the network and IAM layer was applied against LocalStack and verified with the AWS CLI. LocalStack does not emulate EKS; that layer is validated with plan only. One variable switches to real AWS.</a:t>
            </a:r>
          </a:p>
        </p:txBody>
      </p:sp>
      <p:sp>
        <p:nvSpPr>
          <p:cNvPr id="4" name="TextBox 3"/>
          <p:cNvSpPr txBox="1"/>
          <p:nvPr/>
        </p:nvSpPr>
        <p:spPr>
          <a:xfrm>
            <a:off x="640080" y="2926080"/>
            <a:ext cx="4206240" cy="3474720"/>
          </a:xfrm>
          <a:prstGeom prst="rect">
            <a:avLst/>
          </a:prstGeom>
          <a:noFill/>
        </p:spPr>
        <p:txBody>
          <a:bodyPr wrap="square">
            <a:spAutoFit/>
          </a:bodyPr>
          <a:lstStyle/>
          <a:p>
            <a:pPr>
              <a:spcAft>
                <a:spcPts val="800"/>
              </a:spcAft>
            </a:pPr>
            <a:r>
              <a:rPr sz="1600">
                <a:solidFill>
                  <a:srgbClr val="BFD8D5"/>
                </a:solidFill>
                <a:latin typeface="Calibri"/>
              </a:rPr>
              <a:t>•  VPC 10.0.0.0/16, 2 public + 2 private subnets in two AZs, Internet Gateway, NAT Gateway, route tables</a:t>
            </a:r>
          </a:p>
          <a:p>
            <a:pPr>
              <a:spcAft>
                <a:spcPts val="800"/>
              </a:spcAft>
            </a:pPr>
            <a:r>
              <a:rPr sz="1600">
                <a:solidFill>
                  <a:srgbClr val="BFD8D5"/>
                </a:solidFill>
                <a:latin typeface="Calibri"/>
              </a:rPr>
              <a:t>•  EKS cluster, IAM roles, managed node group (t3.medium, 1 to 3 nodes), add-ons, OIDC provider</a:t>
            </a:r>
          </a:p>
          <a:p>
            <a:pPr>
              <a:spcAft>
                <a:spcPts val="800"/>
              </a:spcAft>
            </a:pPr>
            <a:r>
              <a:rPr sz="1600">
                <a:solidFill>
                  <a:srgbClr val="BFD8D5"/>
                </a:solidFill>
                <a:latin typeface="Calibri"/>
              </a:rPr>
              <a:t>•  27 resources in the plan; terraform.tfvars.example holds no credentials</a:t>
            </a:r>
          </a:p>
        </p:txBody>
      </p:sp>
      <p:pic>
        <p:nvPicPr>
          <p:cNvPr id="5" name="Picture 4" descr="terraform-apply-localstack-terminal.png"/>
          <p:cNvPicPr>
            <a:picLocks noChangeAspect="1"/>
          </p:cNvPicPr>
          <p:nvPr/>
        </p:nvPicPr>
        <p:blipFill>
          <a:blip r:embed="rId2"/>
          <a:stretch>
            <a:fillRect/>
          </a:stretch>
        </p:blipFill>
        <p:spPr>
          <a:xfrm>
            <a:off x="5428335" y="1371600"/>
            <a:ext cx="5815584" cy="4846320"/>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Kubernetes and Helm: one chart, five pods, all Running</a:t>
            </a:r>
          </a:p>
        </p:txBody>
      </p:sp>
      <p:sp>
        <p:nvSpPr>
          <p:cNvPr id="3" name="TextBox 2"/>
          <p:cNvSpPr txBox="1"/>
          <p:nvPr/>
        </p:nvSpPr>
        <p:spPr>
          <a:xfrm>
            <a:off x="640080" y="1371600"/>
            <a:ext cx="4206240" cy="5029200"/>
          </a:xfrm>
          <a:prstGeom prst="rect">
            <a:avLst/>
          </a:prstGeom>
          <a:noFill/>
        </p:spPr>
        <p:txBody>
          <a:bodyPr wrap="square">
            <a:spAutoFit/>
          </a:bodyPr>
          <a:lstStyle/>
          <a:p>
            <a:pPr>
              <a:spcAft>
                <a:spcPts val="800"/>
              </a:spcAft>
            </a:pPr>
            <a:r>
              <a:rPr sz="1600">
                <a:solidFill>
                  <a:srgbClr val="BFD8D5"/>
                </a:solidFill>
                <a:latin typeface="Calibri"/>
              </a:rPr>
              <a:t>•  Deployments ×2: backend and frontend, 2 replicas each, rolling update</a:t>
            </a:r>
          </a:p>
          <a:p>
            <a:pPr>
              <a:spcAft>
                <a:spcPts val="800"/>
              </a:spcAft>
            </a:pPr>
            <a:r>
              <a:rPr sz="1600">
                <a:solidFill>
                  <a:srgbClr val="BFD8D5"/>
                </a:solidFill>
                <a:latin typeface="Calibri"/>
              </a:rPr>
              <a:t>•  Services ×3: ClusterIP backend:8000, frontend:8080, headless postgres</a:t>
            </a:r>
          </a:p>
          <a:p>
            <a:pPr>
              <a:spcAft>
                <a:spcPts val="800"/>
              </a:spcAft>
            </a:pPr>
            <a:r>
              <a:rPr sz="1600">
                <a:solidFill>
                  <a:srgbClr val="BFD8D5"/>
                </a:solidFill>
                <a:latin typeface="Calibri"/>
              </a:rPr>
              <a:t>•  StatefulSet + PVC: Postgres 16 with a 1 Gi volume</a:t>
            </a:r>
          </a:p>
          <a:p>
            <a:pPr>
              <a:spcAft>
                <a:spcPts val="800"/>
              </a:spcAft>
            </a:pPr>
            <a:r>
              <a:rPr sz="1600">
                <a:solidFill>
                  <a:srgbClr val="BFD8D5"/>
                </a:solidFill>
                <a:latin typeface="Calibri"/>
              </a:rPr>
              <a:t>•  Secret + ConfigMap, Ingress, HPA (2 to 5 at 60 % CPU), ServiceMonitor</a:t>
            </a:r>
          </a:p>
          <a:p>
            <a:pPr>
              <a:spcAft>
                <a:spcPts val="800"/>
              </a:spcAft>
            </a:pPr>
            <a:r>
              <a:rPr sz="1600">
                <a:solidFill>
                  <a:srgbClr val="BFD8D5"/>
                </a:solidFill>
                <a:latin typeface="Calibri"/>
              </a:rPr>
              <a:t>•  Namespace enforces the restricted Pod Security Standard; init containers wait for Postgres and migrate first</a:t>
            </a:r>
          </a:p>
        </p:txBody>
      </p:sp>
      <p:pic>
        <p:nvPicPr>
          <p:cNvPr id="4" name="Picture 3" descr="k8s-pods-svc-helm-ingress-hpa-terminal.png"/>
          <p:cNvPicPr>
            <a:picLocks noChangeAspect="1"/>
          </p:cNvPicPr>
          <p:nvPr/>
        </p:nvPicPr>
        <p:blipFill>
          <a:blip r:embed="rId2"/>
          <a:stretch>
            <a:fillRect/>
          </a:stretch>
        </p:blipFill>
        <p:spPr>
          <a:xfrm>
            <a:off x="5428335" y="1371600"/>
            <a:ext cx="5815584" cy="4846320"/>
          </a:xfrm>
          <a:prstGeom prst="rect">
            <a:avLst/>
          </a:prstGeom>
        </p:spPr>
      </p:pic>
      <p:sp>
        <p:nvSpPr>
          <p:cNvPr id="5" name="TextBox 4"/>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6" name="TextBox 5"/>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Ingress: one hostname, two routes</a:t>
            </a:r>
          </a:p>
        </p:txBody>
      </p:sp>
      <p:sp>
        <p:nvSpPr>
          <p:cNvPr id="3" name="TextBox 2"/>
          <p:cNvSpPr txBox="1"/>
          <p:nvPr/>
        </p:nvSpPr>
        <p:spPr>
          <a:xfrm>
            <a:off x="640080" y="1371600"/>
            <a:ext cx="4206240" cy="5029200"/>
          </a:xfrm>
          <a:prstGeom prst="rect">
            <a:avLst/>
          </a:prstGeom>
          <a:noFill/>
        </p:spPr>
        <p:txBody>
          <a:bodyPr wrap="square">
            <a:spAutoFit/>
          </a:bodyPr>
          <a:lstStyle/>
          <a:p>
            <a:pPr>
              <a:spcAft>
                <a:spcPts val="800"/>
              </a:spcAft>
            </a:pPr>
            <a:r>
              <a:rPr sz="1600">
                <a:solidFill>
                  <a:srgbClr val="BFD8D5"/>
                </a:solidFill>
                <a:latin typeface="Calibri"/>
              </a:rPr>
              <a:t>•  ledger.local /api, /health, /ready, /metrics → backend:8000</a:t>
            </a:r>
          </a:p>
          <a:p>
            <a:pPr>
              <a:spcAft>
                <a:spcPts val="800"/>
              </a:spcAft>
            </a:pPr>
            <a:r>
              <a:rPr sz="1600">
                <a:solidFill>
                  <a:srgbClr val="BFD8D5"/>
                </a:solidFill>
                <a:latin typeface="Calibri"/>
              </a:rPr>
              <a:t>•  ledger.local / → frontend:8080</a:t>
            </a:r>
          </a:p>
          <a:p>
            <a:pPr>
              <a:spcAft>
                <a:spcPts val="800"/>
              </a:spcAft>
            </a:pPr>
            <a:r>
              <a:rPr sz="1600">
                <a:solidFill>
                  <a:srgbClr val="BFD8D5"/>
                </a:solidFill>
                <a:latin typeface="Calibri"/>
              </a:rPr>
              <a:t>•  The Ingress object is only configuration; ingress-nginx is the controller that serves it</a:t>
            </a:r>
          </a:p>
          <a:p>
            <a:pPr>
              <a:spcAft>
                <a:spcPts val="800"/>
              </a:spcAft>
            </a:pPr>
            <a:r>
              <a:rPr sz="1600">
                <a:solidFill>
                  <a:srgbClr val="BFD8D5"/>
                </a:solidFill>
                <a:latin typeface="Calibri"/>
              </a:rPr>
              <a:t>•  Longest prefix wins, so /api never falls through to the SPA</a:t>
            </a:r>
          </a:p>
          <a:p>
            <a:pPr>
              <a:spcAft>
                <a:spcPts val="800"/>
              </a:spcAft>
            </a:pPr>
            <a:r>
              <a:rPr sz="1600">
                <a:solidFill>
                  <a:srgbClr val="BFD8D5"/>
                </a:solidFill>
                <a:latin typeface="Calibri"/>
              </a:rPr>
              <a:t>•  The browser never learns the backend address</a:t>
            </a:r>
          </a:p>
        </p:txBody>
      </p:sp>
      <p:pic>
        <p:nvPicPr>
          <p:cNvPr id="4" name="Picture 3" descr="app-via-ingress-browser.png"/>
          <p:cNvPicPr>
            <a:picLocks noChangeAspect="1"/>
          </p:cNvPicPr>
          <p:nvPr/>
        </p:nvPicPr>
        <p:blipFill>
          <a:blip r:embed="rId2"/>
          <a:stretch>
            <a:fillRect/>
          </a:stretch>
        </p:blipFill>
        <p:spPr>
          <a:xfrm>
            <a:off x="5120640" y="1371600"/>
            <a:ext cx="6430975" cy="4134198"/>
          </a:xfrm>
          <a:prstGeom prst="rect">
            <a:avLst/>
          </a:prstGeom>
        </p:spPr>
      </p:pic>
      <p:sp>
        <p:nvSpPr>
          <p:cNvPr id="5" name="TextBox 4"/>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6" name="TextBox 5"/>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Autoscaling: 2 to 5 replicas under load, back to 2 after</a:t>
            </a:r>
          </a:p>
        </p:txBody>
      </p:sp>
      <p:sp>
        <p:nvSpPr>
          <p:cNvPr id="3" name="Rectangle 2"/>
          <p:cNvSpPr/>
          <p:nvPr/>
        </p:nvSpPr>
        <p:spPr>
          <a:xfrm>
            <a:off x="640080" y="1371600"/>
            <a:ext cx="4206240" cy="914400"/>
          </a:xfrm>
          <a:prstGeom prst="rect">
            <a:avLst/>
          </a:prstGeom>
          <a:solidFill>
            <a:srgbClr val="171D25"/>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3400" b="1">
                <a:solidFill>
                  <a:srgbClr val="4FD1A5"/>
                </a:solidFill>
                <a:latin typeface="Calibri"/>
              </a:rPr>
              <a:t>3% → 278% → 2% CPU</a:t>
            </a:r>
          </a:p>
          <a:p>
            <a:pPr>
              <a:spcAft>
                <a:spcPts val="400"/>
              </a:spcAft>
            </a:pPr>
            <a:r>
              <a:rPr sz="1200" b="0">
                <a:solidFill>
                  <a:srgbClr val="8B98A8"/>
                </a:solidFill>
                <a:latin typeface="Calibri"/>
              </a:rPr>
              <a:t>idle, under load, load removed</a:t>
            </a:r>
          </a:p>
        </p:txBody>
      </p:sp>
      <p:sp>
        <p:nvSpPr>
          <p:cNvPr id="4" name="TextBox 3"/>
          <p:cNvSpPr txBox="1"/>
          <p:nvPr/>
        </p:nvSpPr>
        <p:spPr>
          <a:xfrm>
            <a:off x="640080" y="2423160"/>
            <a:ext cx="4206240" cy="3977640"/>
          </a:xfrm>
          <a:prstGeom prst="rect">
            <a:avLst/>
          </a:prstGeom>
          <a:noFill/>
        </p:spPr>
        <p:txBody>
          <a:bodyPr wrap="square">
            <a:spAutoFit/>
          </a:bodyPr>
          <a:lstStyle/>
          <a:p>
            <a:pPr>
              <a:spcAft>
                <a:spcPts val="800"/>
              </a:spcAft>
            </a:pPr>
            <a:r>
              <a:rPr sz="1600">
                <a:solidFill>
                  <a:srgbClr val="BFD8D5"/>
                </a:solidFill>
                <a:latin typeface="Calibri"/>
              </a:rPr>
              <a:t>•  HPA target: 60 % of the CPU request, min 2, max 5</a:t>
            </a:r>
          </a:p>
          <a:p>
            <a:pPr>
              <a:spcAft>
                <a:spcPts val="800"/>
              </a:spcAft>
            </a:pPr>
            <a:r>
              <a:rPr sz="1600">
                <a:solidFill>
                  <a:srgbClr val="BFD8D5"/>
                </a:solidFill>
                <a:latin typeface="Calibri"/>
              </a:rPr>
              <a:t>•  Four in-cluster load generators hit /api/expenses/summary at about 1 100 requests/s</a:t>
            </a:r>
          </a:p>
          <a:p>
            <a:pPr>
              <a:spcAft>
                <a:spcPts val="800"/>
              </a:spcAft>
            </a:pPr>
            <a:r>
              <a:rPr sz="1600">
                <a:solidFill>
                  <a:srgbClr val="BFD8D5"/>
                </a:solidFill>
                <a:latin typeface="Calibri"/>
              </a:rPr>
              <a:t>•  Scale-up within a minute; scale-down after the stabilisation window</a:t>
            </a:r>
          </a:p>
          <a:p>
            <a:pPr>
              <a:spcAft>
                <a:spcPts val="800"/>
              </a:spcAft>
            </a:pPr>
            <a:r>
              <a:rPr sz="1600">
                <a:solidFill>
                  <a:srgbClr val="BFD8D5"/>
                </a:solidFill>
                <a:latin typeface="Calibri"/>
              </a:rPr>
              <a:t>•  Needs resource requests and the metrics-server</a:t>
            </a:r>
          </a:p>
        </p:txBody>
      </p:sp>
      <p:pic>
        <p:nvPicPr>
          <p:cNvPr id="5" name="Picture 4" descr="hpa-scale-up-down-terminal.png"/>
          <p:cNvPicPr>
            <a:picLocks noChangeAspect="1"/>
          </p:cNvPicPr>
          <p:nvPr/>
        </p:nvPicPr>
        <p:blipFill>
          <a:blip r:embed="rId2"/>
          <a:stretch>
            <a:fillRect/>
          </a:stretch>
        </p:blipFill>
        <p:spPr>
          <a:xfrm>
            <a:off x="5428335" y="1371600"/>
            <a:ext cx="5815584" cy="4846320"/>
          </a:xfrm>
          <a:prstGeom prst="rect">
            <a:avLst/>
          </a:prstGeom>
        </p:spPr>
      </p:pic>
      <p:sp>
        <p:nvSpPr>
          <p:cNvPr id="6" name="TextBox 5"/>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7" name="TextBox 6"/>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Monitoring: Prometheus scrapes it, Grafana shows it</a:t>
            </a:r>
          </a:p>
        </p:txBody>
      </p:sp>
      <p:sp>
        <p:nvSpPr>
          <p:cNvPr id="3" name="TextBox 2"/>
          <p:cNvSpPr txBox="1"/>
          <p:nvPr/>
        </p:nvSpPr>
        <p:spPr>
          <a:xfrm>
            <a:off x="640080" y="1371600"/>
            <a:ext cx="4206240" cy="5029200"/>
          </a:xfrm>
          <a:prstGeom prst="rect">
            <a:avLst/>
          </a:prstGeom>
          <a:noFill/>
        </p:spPr>
        <p:txBody>
          <a:bodyPr wrap="square">
            <a:spAutoFit/>
          </a:bodyPr>
          <a:lstStyle/>
          <a:p>
            <a:pPr>
              <a:spcAft>
                <a:spcPts val="800"/>
              </a:spcAft>
            </a:pPr>
            <a:r>
              <a:rPr sz="1600">
                <a:solidFill>
                  <a:srgbClr val="BFD8D5"/>
                </a:solidFill>
                <a:latin typeface="Calibri"/>
              </a:rPr>
              <a:t>•  /metrics from prometheus-fastapi-instrumentator: requests and latency per handler, method and status</a:t>
            </a:r>
          </a:p>
          <a:p>
            <a:pPr>
              <a:spcAft>
                <a:spcPts val="800"/>
              </a:spcAft>
            </a:pPr>
            <a:r>
              <a:rPr sz="1600">
                <a:solidFill>
                  <a:srgbClr val="BFD8D5"/>
                </a:solidFill>
                <a:latin typeface="Calibri"/>
              </a:rPr>
              <a:t>•  A ServiceMonitor in the chart tells the Prometheus Operator what to scrape, every 15 s</a:t>
            </a:r>
          </a:p>
          <a:p>
            <a:pPr>
              <a:spcAft>
                <a:spcPts val="800"/>
              </a:spcAft>
            </a:pPr>
            <a:r>
              <a:rPr sz="1600">
                <a:solidFill>
                  <a:srgbClr val="BFD8D5"/>
                </a:solidFill>
                <a:latin typeface="Calibri"/>
              </a:rPr>
              <a:t>•  Targets page: every backend pod UP</a:t>
            </a:r>
          </a:p>
          <a:p>
            <a:pPr>
              <a:spcAft>
                <a:spcPts val="800"/>
              </a:spcAft>
            </a:pPr>
            <a:r>
              <a:rPr sz="1600">
                <a:solidFill>
                  <a:srgbClr val="BFD8D5"/>
                </a:solidFill>
                <a:latin typeface="Calibri"/>
              </a:rPr>
              <a:t>•  Dashboard provisioned from a ConfigMap: requests/s, p95 latency, 5xx ratio, replicas, CPU and memory per pod</a:t>
            </a:r>
          </a:p>
        </p:txBody>
      </p:sp>
      <p:pic>
        <p:nvPicPr>
          <p:cNvPr id="4" name="Picture 3" descr="grafana-ledger-dashboard-browser.png"/>
          <p:cNvPicPr>
            <a:picLocks noChangeAspect="1"/>
          </p:cNvPicPr>
          <p:nvPr/>
        </p:nvPicPr>
        <p:blipFill>
          <a:blip r:embed="rId2"/>
          <a:stretch>
            <a:fillRect/>
          </a:stretch>
        </p:blipFill>
        <p:spPr>
          <a:xfrm>
            <a:off x="5120640" y="1371600"/>
            <a:ext cx="6430975" cy="3031745"/>
          </a:xfrm>
          <a:prstGeom prst="rect">
            <a:avLst/>
          </a:prstGeom>
        </p:spPr>
      </p:pic>
      <p:sp>
        <p:nvSpPr>
          <p:cNvPr id="5" name="TextBox 4"/>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6" name="TextBox 5"/>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Troubleshooting: two things broken on purpose</a:t>
            </a:r>
          </a:p>
        </p:txBody>
      </p:sp>
      <p:sp>
        <p:nvSpPr>
          <p:cNvPr id="3" name="TextBox 2"/>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4" name="TextBox 3"/>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16</a:t>
            </a:r>
          </a:p>
        </p:txBody>
      </p:sp>
      <p:sp>
        <p:nvSpPr>
          <p:cNvPr id="5" name="Rectangle 4"/>
          <p:cNvSpPr/>
          <p:nvPr/>
        </p:nvSpPr>
        <p:spPr>
          <a:xfrm>
            <a:off x="640080" y="1371600"/>
            <a:ext cx="5318607"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BROKEN IMAGE · ImagePullBackOff</a:t>
            </a:r>
          </a:p>
          <a:p>
            <a:pPr>
              <a:spcAft>
                <a:spcPts val="400"/>
              </a:spcAft>
            </a:pPr>
            <a:r>
              <a:rPr sz="1400" b="0">
                <a:solidFill>
                  <a:srgbClr val="BFD8D5"/>
                </a:solidFill>
                <a:latin typeface="Calibri"/>
              </a:rPr>
              <a:t>A Deployment with a tag that was never built. kubectl describe and get events show the pull failing. Fix: set the image to the SHA the pipeline pushed.</a:t>
            </a:r>
          </a:p>
        </p:txBody>
      </p:sp>
      <p:pic>
        <p:nvPicPr>
          <p:cNvPr id="6" name="Picture 5" descr="troubleshooting-broken-image-terminal.png"/>
          <p:cNvPicPr>
            <a:picLocks noChangeAspect="1"/>
          </p:cNvPicPr>
          <p:nvPr/>
        </p:nvPicPr>
        <p:blipFill>
          <a:blip r:embed="rId3"/>
          <a:stretch>
            <a:fillRect/>
          </a:stretch>
        </p:blipFill>
        <p:spPr>
          <a:xfrm>
            <a:off x="1090095" y="2880360"/>
            <a:ext cx="4418577" cy="3291840"/>
          </a:xfrm>
          <a:prstGeom prst="rect">
            <a:avLst/>
          </a:prstGeom>
        </p:spPr>
      </p:pic>
      <p:sp>
        <p:nvSpPr>
          <p:cNvPr id="7" name="Rectangle 6"/>
          <p:cNvSpPr/>
          <p:nvPr/>
        </p:nvSpPr>
        <p:spPr>
          <a:xfrm>
            <a:off x="6233007" y="1371600"/>
            <a:ext cx="5318607" cy="137160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200" b="1">
                <a:solidFill>
                  <a:srgbClr val="4FD1A5"/>
                </a:solidFill>
                <a:latin typeface="Calibri"/>
              </a:rPr>
              <a:t>BROKEN SERVICE · no endpoints</a:t>
            </a:r>
          </a:p>
          <a:p>
            <a:pPr>
              <a:spcAft>
                <a:spcPts val="400"/>
              </a:spcAft>
            </a:pPr>
            <a:r>
              <a:rPr sz="1400" b="0">
                <a:solidFill>
                  <a:srgbClr val="BFD8D5"/>
                </a:solidFill>
                <a:latin typeface="Calibri"/>
              </a:rPr>
              <a:t>A selector that matches no pod. get endpoints shows none, requests are refused. Compare the selector with get pods --show-labels, patch it, and the endpoints appear.</a:t>
            </a:r>
          </a:p>
        </p:txBody>
      </p:sp>
      <p:pic>
        <p:nvPicPr>
          <p:cNvPr id="8" name="Picture 7" descr="troubleshooting-broken-service-terminal.png"/>
          <p:cNvPicPr>
            <a:picLocks noChangeAspect="1"/>
          </p:cNvPicPr>
          <p:nvPr/>
        </p:nvPicPr>
        <p:blipFill>
          <a:blip r:embed="rId4"/>
          <a:stretch>
            <a:fillRect/>
          </a:stretch>
        </p:blipFill>
        <p:spPr>
          <a:xfrm>
            <a:off x="6233007" y="2880360"/>
            <a:ext cx="5318607" cy="29193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271F"/>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Live demo: one change, commit to cluster</a:t>
            </a:r>
          </a:p>
        </p:txBody>
      </p:sp>
      <p:sp>
        <p:nvSpPr>
          <p:cNvPr id="3" name="TextBox 2"/>
          <p:cNvSpPr txBox="1"/>
          <p:nvPr/>
        </p:nvSpPr>
        <p:spPr>
          <a:xfrm>
            <a:off x="640080" y="1371600"/>
            <a:ext cx="4206240" cy="5029200"/>
          </a:xfrm>
          <a:prstGeom prst="rect">
            <a:avLst/>
          </a:prstGeom>
          <a:noFill/>
        </p:spPr>
        <p:txBody>
          <a:bodyPr wrap="square">
            <a:spAutoFit/>
          </a:bodyPr>
          <a:lstStyle/>
          <a:p>
            <a:pPr>
              <a:spcAft>
                <a:spcPts val="800"/>
              </a:spcAft>
            </a:pPr>
            <a:r>
              <a:rPr sz="1600">
                <a:solidFill>
                  <a:srgbClr val="BFD8D5"/>
                </a:solidFill>
                <a:latin typeface="Calibri"/>
              </a:rPr>
              <a:t>•  1. Change the tagline in frontend/src/App.jsx and commit</a:t>
            </a:r>
          </a:p>
          <a:p>
            <a:pPr>
              <a:spcAft>
                <a:spcPts val="800"/>
              </a:spcAft>
            </a:pPr>
            <a:r>
              <a:rPr sz="1600">
                <a:solidFill>
                  <a:srgbClr val="BFD8D5"/>
                </a:solidFill>
                <a:latin typeface="Calibri"/>
              </a:rPr>
              <a:t>•  2. git push: the Actions run starts, test job first</a:t>
            </a:r>
          </a:p>
          <a:p>
            <a:pPr>
              <a:spcAft>
                <a:spcPts val="800"/>
              </a:spcAft>
            </a:pPr>
            <a:r>
              <a:rPr sz="1600">
                <a:solidFill>
                  <a:srgbClr val="BFD8D5"/>
                </a:solidFill>
                <a:latin typeface="Calibri"/>
              </a:rPr>
              <a:t>•  3. Build job: two images tagged with the new SHA, Trivy clean, pushed to GHCR</a:t>
            </a:r>
          </a:p>
          <a:p>
            <a:pPr>
              <a:spcAft>
                <a:spcPts val="800"/>
              </a:spcAft>
            </a:pPr>
            <a:r>
              <a:rPr sz="1600">
                <a:solidFill>
                  <a:srgbClr val="BFD8D5"/>
                </a:solidFill>
                <a:latin typeface="Calibri"/>
              </a:rPr>
              <a:t>•  4. Deploy: helm upgrade to the next revision, rolling update with zero unavailable pods</a:t>
            </a:r>
          </a:p>
          <a:p>
            <a:pPr>
              <a:spcAft>
                <a:spcPts val="800"/>
              </a:spcAft>
            </a:pPr>
            <a:r>
              <a:rPr sz="1600">
                <a:solidFill>
                  <a:srgbClr val="BFD8D5"/>
                </a:solidFill>
                <a:latin typeface="Calibri"/>
              </a:rPr>
              <a:t>•  5. kubectl get pods shows the new SHA on every container; the page shows the new tagline</a:t>
            </a:r>
          </a:p>
          <a:p>
            <a:pPr>
              <a:spcAft>
                <a:spcPts val="800"/>
              </a:spcAft>
            </a:pPr>
            <a:r>
              <a:rPr sz="1600">
                <a:solidFill>
                  <a:srgbClr val="BFD8D5"/>
                </a:solidFill>
                <a:latin typeface="Calibri"/>
              </a:rPr>
              <a:t>•  Already done once for the record (right): revision 1 to revision 2</a:t>
            </a:r>
          </a:p>
        </p:txBody>
      </p:sp>
      <p:pic>
        <p:nvPicPr>
          <p:cNvPr id="4" name="Picture 3" descr="demo-change-commit-pipeline-rollout-terminal.png"/>
          <p:cNvPicPr>
            <a:picLocks noChangeAspect="1"/>
          </p:cNvPicPr>
          <p:nvPr/>
        </p:nvPicPr>
        <p:blipFill>
          <a:blip r:embed="rId2"/>
          <a:stretch>
            <a:fillRect/>
          </a:stretch>
        </p:blipFill>
        <p:spPr>
          <a:xfrm>
            <a:off x="5120640" y="1371600"/>
            <a:ext cx="6430975" cy="4658884"/>
          </a:xfrm>
          <a:prstGeom prst="rect">
            <a:avLst/>
          </a:prstGeom>
        </p:spPr>
      </p:pic>
      <p:sp>
        <p:nvSpPr>
          <p:cNvPr id="5" name="TextBox 4"/>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6" name="TextBox 5"/>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TextBox 1"/>
          <p:cNvSpPr txBox="1"/>
          <p:nvPr/>
        </p:nvSpPr>
        <p:spPr>
          <a:xfrm>
            <a:off x="640080" y="411480"/>
            <a:ext cx="10911535" cy="822960"/>
          </a:xfrm>
          <a:prstGeom prst="rect">
            <a:avLst/>
          </a:prstGeom>
          <a:noFill/>
        </p:spPr>
        <p:txBody>
          <a:bodyPr wrap="square" lIns="137160" rIns="137160" tIns="91440" bIns="91440">
            <a:spAutoFit/>
          </a:bodyPr>
          <a:lstStyle/>
          <a:p>
            <a:pPr>
              <a:spcAft>
                <a:spcPts val="400"/>
              </a:spcAft>
            </a:pPr>
            <a:r>
              <a:rPr sz="3000" b="1">
                <a:solidFill>
                  <a:srgbClr val="E6EDF3"/>
                </a:solidFill>
                <a:latin typeface="Calibri"/>
              </a:rPr>
              <a:t>What I learned</a:t>
            </a:r>
          </a:p>
        </p:txBody>
      </p:sp>
      <p:sp>
        <p:nvSpPr>
          <p:cNvPr id="3" name="Rectangle 2"/>
          <p:cNvSpPr/>
          <p:nvPr/>
        </p:nvSpPr>
        <p:spPr>
          <a:xfrm>
            <a:off x="640080" y="137160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Tests before images</a:t>
            </a:r>
          </a:p>
          <a:p>
            <a:pPr>
              <a:spcAft>
                <a:spcPts val="400"/>
              </a:spcAft>
            </a:pPr>
            <a:r>
              <a:rPr sz="1300" b="0">
                <a:solidFill>
                  <a:srgbClr val="BFD8D5"/>
                </a:solidFill>
                <a:latin typeface="Calibri"/>
              </a:rPr>
              <a:t>A red test or a fixable CVE stops the run before anything is pushed.</a:t>
            </a:r>
          </a:p>
        </p:txBody>
      </p:sp>
      <p:sp>
        <p:nvSpPr>
          <p:cNvPr id="4" name="Rectangle 3"/>
          <p:cNvSpPr/>
          <p:nvPr/>
        </p:nvSpPr>
        <p:spPr>
          <a:xfrm>
            <a:off x="6187287" y="137160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Tags are provenance</a:t>
            </a:r>
          </a:p>
          <a:p>
            <a:pPr>
              <a:spcAft>
                <a:spcPts val="400"/>
              </a:spcAft>
            </a:pPr>
            <a:r>
              <a:rPr sz="1300" b="0">
                <a:solidFill>
                  <a:srgbClr val="BFD8D5"/>
                </a:solidFill>
                <a:latin typeface="Calibri"/>
              </a:rPr>
              <a:t>A SHA tag tells me which commit is running. “latest” tells me nothing.</a:t>
            </a:r>
          </a:p>
        </p:txBody>
      </p:sp>
      <p:sp>
        <p:nvSpPr>
          <p:cNvPr id="5" name="Rectangle 4"/>
          <p:cNvSpPr/>
          <p:nvPr/>
        </p:nvSpPr>
        <p:spPr>
          <a:xfrm>
            <a:off x="640080" y="269748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Caches can hide security fixes</a:t>
            </a:r>
          </a:p>
          <a:p>
            <a:pPr>
              <a:spcAft>
                <a:spcPts val="400"/>
              </a:spcAft>
            </a:pPr>
            <a:r>
              <a:rPr sz="1300" b="0">
                <a:solidFill>
                  <a:srgbClr val="BFD8D5"/>
                </a:solidFill>
                <a:latin typeface="Calibri"/>
              </a:rPr>
              <a:t>apk upgrade only helps if the layer is rebuilt; the pipeline builds with --pull --no-cache.</a:t>
            </a:r>
          </a:p>
        </p:txBody>
      </p:sp>
      <p:sp>
        <p:nvSpPr>
          <p:cNvPr id="6" name="Rectangle 5"/>
          <p:cNvSpPr/>
          <p:nvPr/>
        </p:nvSpPr>
        <p:spPr>
          <a:xfrm>
            <a:off x="6187287" y="269748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Readiness is not liveness</a:t>
            </a:r>
          </a:p>
          <a:p>
            <a:pPr>
              <a:spcAft>
                <a:spcPts val="400"/>
              </a:spcAft>
            </a:pPr>
            <a:r>
              <a:rPr sz="1300" b="0">
                <a:solidFill>
                  <a:srgbClr val="BFD8D5"/>
                </a:solidFill>
                <a:latin typeface="Calibri"/>
              </a:rPr>
              <a:t>/health restarts a pod; /ready decides whether it gets traffic.</a:t>
            </a:r>
          </a:p>
        </p:txBody>
      </p:sp>
      <p:sp>
        <p:nvSpPr>
          <p:cNvPr id="7" name="Rectangle 6"/>
          <p:cNvSpPr/>
          <p:nvPr/>
        </p:nvSpPr>
        <p:spPr>
          <a:xfrm>
            <a:off x="640080" y="402336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A Service is a label query</a:t>
            </a:r>
          </a:p>
          <a:p>
            <a:pPr>
              <a:spcAft>
                <a:spcPts val="400"/>
              </a:spcAft>
            </a:pPr>
            <a:r>
              <a:rPr sz="1300" b="0">
                <a:solidFill>
                  <a:srgbClr val="BFD8D5"/>
                </a:solidFill>
                <a:latin typeface="Calibri"/>
              </a:rPr>
              <a:t>No matching labels, no endpoints, no traffic. ServiceMonitor, HPA and Ingress work the same way.</a:t>
            </a:r>
          </a:p>
        </p:txBody>
      </p:sp>
      <p:sp>
        <p:nvSpPr>
          <p:cNvPr id="8" name="Rectangle 7"/>
          <p:cNvSpPr/>
          <p:nvPr/>
        </p:nvSpPr>
        <p:spPr>
          <a:xfrm>
            <a:off x="6187287" y="4023360"/>
            <a:ext cx="5364327" cy="1188720"/>
          </a:xfrm>
          <a:prstGeom prst="rect">
            <a:avLst/>
          </a:prstGeom>
          <a:solidFill>
            <a:srgbClr val="171D25"/>
          </a:solidFill>
          <a:ln>
            <a:solidFill>
              <a:srgbClr val="2A3441"/>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spcAft>
                <a:spcPts val="400"/>
              </a:spcAft>
            </a:pPr>
            <a:r>
              <a:rPr sz="1500" b="1">
                <a:solidFill>
                  <a:srgbClr val="4FD1A5"/>
                </a:solidFill>
                <a:latin typeface="Calibri"/>
              </a:rPr>
              <a:t>Plan, then apply, then destroy</a:t>
            </a:r>
          </a:p>
          <a:p>
            <a:pPr>
              <a:spcAft>
                <a:spcPts val="400"/>
              </a:spcAft>
            </a:pPr>
            <a:r>
              <a:rPr sz="1300" b="0">
                <a:solidFill>
                  <a:srgbClr val="BFD8D5"/>
                </a:solidFill>
                <a:latin typeface="Calibri"/>
              </a:rPr>
              <a:t>Terraform shows what will happen before it happens; destroy is how the bill stops.</a:t>
            </a:r>
          </a:p>
        </p:txBody>
      </p:sp>
      <p:sp>
        <p:nvSpPr>
          <p:cNvPr id="9" name="TextBox 8"/>
          <p:cNvSpPr txBox="1"/>
          <p:nvPr/>
        </p:nvSpPr>
        <p:spPr>
          <a:xfrm>
            <a:off x="640080" y="5486400"/>
            <a:ext cx="10911535" cy="457200"/>
          </a:xfrm>
          <a:prstGeom prst="rect">
            <a:avLst/>
          </a:prstGeom>
          <a:noFill/>
        </p:spPr>
        <p:txBody>
          <a:bodyPr wrap="square" lIns="137160" rIns="137160" tIns="91440" bIns="91440">
            <a:spAutoFit/>
          </a:bodyPr>
          <a:lstStyle/>
          <a:p>
            <a:pPr>
              <a:spcAft>
                <a:spcPts val="400"/>
              </a:spcAft>
            </a:pPr>
            <a:r>
              <a:rPr sz="1400" b="0">
                <a:solidFill>
                  <a:srgbClr val="7CC4FF"/>
                </a:solidFill>
                <a:latin typeface="Courier New"/>
              </a:rPr>
              <a:t>github.com/gauri0508/ledger-capstone · README has every command and screenshot</a:t>
            </a:r>
          </a:p>
        </p:txBody>
      </p:sp>
      <p:sp>
        <p:nvSpPr>
          <p:cNvPr id="10" name="TextBox 9"/>
          <p:cNvSpPr txBox="1"/>
          <p:nvPr/>
        </p:nvSpPr>
        <p:spPr>
          <a:xfrm>
            <a:off x="640080" y="6355080"/>
            <a:ext cx="3657600" cy="365760"/>
          </a:xfrm>
          <a:prstGeom prst="rect">
            <a:avLst/>
          </a:prstGeom>
          <a:noFill/>
        </p:spPr>
        <p:txBody>
          <a:bodyPr wrap="square" lIns="137160" rIns="137160" tIns="91440" bIns="91440">
            <a:spAutoFit/>
          </a:bodyPr>
          <a:lstStyle/>
          <a:p>
            <a:pPr>
              <a:spcAft>
                <a:spcPts val="400"/>
              </a:spcAft>
            </a:pPr>
            <a:r>
              <a:rPr sz="1200" b="0">
                <a:solidFill>
                  <a:srgbClr val="8B98A8"/>
                </a:solidFill>
                <a:latin typeface="Calibri"/>
              </a:rPr>
              <a:t>Ledger · Gauri Shukla</a:t>
            </a:r>
          </a:p>
        </p:txBody>
      </p:sp>
      <p:sp>
        <p:nvSpPr>
          <p:cNvPr id="11" name="TextBox 10"/>
          <p:cNvSpPr txBox="1"/>
          <p:nvPr/>
        </p:nvSpPr>
        <p:spPr>
          <a:xfrm>
            <a:off x="10637215" y="6355080"/>
            <a:ext cx="914400" cy="365760"/>
          </a:xfrm>
          <a:prstGeom prst="rect">
            <a:avLst/>
          </a:prstGeom>
          <a:noFill/>
        </p:spPr>
        <p:txBody>
          <a:bodyPr wrap="square" lIns="137160" rIns="137160" tIns="91440" bIns="91440">
            <a:spAutoFit/>
          </a:bodyPr>
          <a:lstStyle/>
          <a:p>
            <a:pPr algn="r">
              <a:spcAft>
                <a:spcPts val="400"/>
              </a:spcAft>
            </a:pPr>
            <a:r>
              <a:rPr sz="1200" b="0">
                <a:solidFill>
                  <a:srgbClr val="8B98A8"/>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Ledger - DevOps Final Capstone</dc:title>
  <dc:subject>Session 21 final project presentation</dc:subject>
  <dc:creator>Gauri Shukla</dc:creator>
  <cp:keywords/>
  <dc:description/>
  <cp:lastModifiedBy>Gauri Shukla</cp:lastModifiedBy>
  <cp:revision>1</cp:revision>
  <dcterms:created xsi:type="dcterms:W3CDTF">2013-01-27T09:14:16Z</dcterms:created>
  <dcterms:modified xsi:type="dcterms:W3CDTF">2013-01-27T09:15:58Z</dcterms:modified>
  <cp:category/>
</cp:coreProperties>
</file>